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8" r:id="rId3"/>
    <p:sldId id="259" r:id="rId4"/>
    <p:sldId id="260" r:id="rId5"/>
    <p:sldId id="264" r:id="rId6"/>
    <p:sldId id="261" r:id="rId7"/>
    <p:sldId id="262" r:id="rId8"/>
    <p:sldId id="263" r:id="rId9"/>
  </p:sldIdLst>
  <p:sldSz cx="12192000" cy="6858000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Quattrocento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B5ED"/>
    <a:srgbClr val="578BFF"/>
    <a:srgbClr val="050B15"/>
    <a:srgbClr val="0B0F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5452637" y="3785998"/>
            <a:ext cx="79783" cy="7978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2306926" y="3481820"/>
            <a:ext cx="103727" cy="10372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5384647" y="1129719"/>
            <a:ext cx="110853" cy="110853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7133562" y="2746228"/>
            <a:ext cx="99773" cy="9977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7458944" y="5514130"/>
            <a:ext cx="75434" cy="75434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7182696" y="5173541"/>
            <a:ext cx="88949" cy="88949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6236889" y="4297705"/>
            <a:ext cx="94179" cy="9417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7831105" y="2813711"/>
            <a:ext cx="113874" cy="113874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8453951" y="2232211"/>
            <a:ext cx="66863" cy="66863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6754104" y="914484"/>
            <a:ext cx="91772" cy="91772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11394196" y="5613321"/>
            <a:ext cx="86575" cy="86575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5659529" y="6458859"/>
            <a:ext cx="51062" cy="51062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9284693" y="1943045"/>
            <a:ext cx="94440" cy="9444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044166" y="978446"/>
            <a:ext cx="53111" cy="53111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5600221" y="3322400"/>
            <a:ext cx="59500" cy="5950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/>
          <p:nvPr/>
        </p:nvSpPr>
        <p:spPr>
          <a:xfrm>
            <a:off x="11714255" y="5118973"/>
            <a:ext cx="73792" cy="7379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3"/>
          <p:cNvSpPr/>
          <p:nvPr/>
        </p:nvSpPr>
        <p:spPr>
          <a:xfrm>
            <a:off x="5081055" y="1581378"/>
            <a:ext cx="116745" cy="11674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3"/>
          <p:cNvSpPr/>
          <p:nvPr/>
        </p:nvSpPr>
        <p:spPr>
          <a:xfrm>
            <a:off x="11862568" y="353354"/>
            <a:ext cx="118567" cy="11856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/>
          <p:nvPr/>
        </p:nvSpPr>
        <p:spPr>
          <a:xfrm>
            <a:off x="631928" y="1158720"/>
            <a:ext cx="46420" cy="4642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3"/>
          <p:cNvSpPr/>
          <p:nvPr/>
        </p:nvSpPr>
        <p:spPr>
          <a:xfrm>
            <a:off x="9893094" y="2682740"/>
            <a:ext cx="86512" cy="86512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3"/>
          <p:cNvSpPr/>
          <p:nvPr/>
        </p:nvSpPr>
        <p:spPr>
          <a:xfrm>
            <a:off x="319392" y="2571560"/>
            <a:ext cx="55026" cy="5502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3"/>
          <p:cNvSpPr/>
          <p:nvPr/>
        </p:nvSpPr>
        <p:spPr>
          <a:xfrm>
            <a:off x="9917414" y="1091225"/>
            <a:ext cx="91604" cy="91604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/>
          <p:nvPr/>
        </p:nvSpPr>
        <p:spPr>
          <a:xfrm>
            <a:off x="10811175" y="5425796"/>
            <a:ext cx="59604" cy="5960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3"/>
          <p:cNvSpPr/>
          <p:nvPr/>
        </p:nvSpPr>
        <p:spPr>
          <a:xfrm>
            <a:off x="8209132" y="2695705"/>
            <a:ext cx="51462" cy="51462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3"/>
          <p:cNvSpPr/>
          <p:nvPr/>
        </p:nvSpPr>
        <p:spPr>
          <a:xfrm>
            <a:off x="1357280" y="474519"/>
            <a:ext cx="63159" cy="6315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3"/>
          <p:cNvSpPr/>
          <p:nvPr/>
        </p:nvSpPr>
        <p:spPr>
          <a:xfrm>
            <a:off x="3156701" y="5463392"/>
            <a:ext cx="67185" cy="6718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3"/>
          <p:cNvSpPr/>
          <p:nvPr/>
        </p:nvSpPr>
        <p:spPr>
          <a:xfrm>
            <a:off x="11055722" y="6438645"/>
            <a:ext cx="103831" cy="103831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3"/>
          <p:cNvSpPr/>
          <p:nvPr/>
        </p:nvSpPr>
        <p:spPr>
          <a:xfrm>
            <a:off x="7355245" y="2009416"/>
            <a:ext cx="60641" cy="60641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3"/>
          <p:cNvSpPr/>
          <p:nvPr/>
        </p:nvSpPr>
        <p:spPr>
          <a:xfrm>
            <a:off x="949726" y="2843248"/>
            <a:ext cx="49128" cy="49128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3"/>
          <p:cNvSpPr/>
          <p:nvPr/>
        </p:nvSpPr>
        <p:spPr>
          <a:xfrm>
            <a:off x="4470402" y="3864782"/>
            <a:ext cx="96332" cy="96332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3"/>
          <p:cNvSpPr/>
          <p:nvPr/>
        </p:nvSpPr>
        <p:spPr>
          <a:xfrm>
            <a:off x="11657996" y="4403455"/>
            <a:ext cx="88472" cy="8847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3"/>
          <p:cNvSpPr/>
          <p:nvPr/>
        </p:nvSpPr>
        <p:spPr>
          <a:xfrm>
            <a:off x="7068222" y="6098071"/>
            <a:ext cx="71869" cy="7186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3"/>
          <p:cNvSpPr/>
          <p:nvPr/>
        </p:nvSpPr>
        <p:spPr>
          <a:xfrm>
            <a:off x="11449757" y="363703"/>
            <a:ext cx="80996" cy="80996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3884300" y="6579597"/>
            <a:ext cx="108106" cy="108106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10714497" y="4912854"/>
            <a:ext cx="103749" cy="10374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4271224" y="4582757"/>
            <a:ext cx="109442" cy="10944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3"/>
          <p:cNvSpPr/>
          <p:nvPr/>
        </p:nvSpPr>
        <p:spPr>
          <a:xfrm>
            <a:off x="11232010" y="420966"/>
            <a:ext cx="46783" cy="4678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4592498" y="307702"/>
            <a:ext cx="78954" cy="78954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3"/>
          <p:cNvSpPr/>
          <p:nvPr/>
        </p:nvSpPr>
        <p:spPr>
          <a:xfrm>
            <a:off x="11808735" y="5819747"/>
            <a:ext cx="74134" cy="7413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3"/>
          <p:cNvSpPr/>
          <p:nvPr/>
        </p:nvSpPr>
        <p:spPr>
          <a:xfrm>
            <a:off x="5313316" y="5556508"/>
            <a:ext cx="121171" cy="121171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3"/>
          <p:cNvSpPr/>
          <p:nvPr/>
        </p:nvSpPr>
        <p:spPr>
          <a:xfrm>
            <a:off x="3782433" y="786145"/>
            <a:ext cx="134432" cy="134432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3"/>
          <p:cNvSpPr/>
          <p:nvPr/>
        </p:nvSpPr>
        <p:spPr>
          <a:xfrm>
            <a:off x="5979874" y="4133817"/>
            <a:ext cx="64434" cy="64434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/>
          <p:nvPr/>
        </p:nvSpPr>
        <p:spPr>
          <a:xfrm>
            <a:off x="4460603" y="1138776"/>
            <a:ext cx="83641" cy="83641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3"/>
          <p:cNvSpPr/>
          <p:nvPr/>
        </p:nvSpPr>
        <p:spPr>
          <a:xfrm>
            <a:off x="7892068" y="3037116"/>
            <a:ext cx="69637" cy="69637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3"/>
          <p:cNvSpPr txBox="1"/>
          <p:nvPr/>
        </p:nvSpPr>
        <p:spPr>
          <a:xfrm>
            <a:off x="0" y="1965960"/>
            <a:ext cx="12191695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</a:t>
            </a:r>
            <a:r>
              <a:rPr lang="en-US" sz="8000" b="1" i="0" u="none" strike="noStrike" cap="non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Smart</a:t>
            </a:r>
            <a:endParaRPr/>
          </a:p>
        </p:txBody>
      </p:sp>
      <p:sp>
        <p:nvSpPr>
          <p:cNvPr id="130" name="Google Shape;130;p13"/>
          <p:cNvSpPr txBox="1"/>
          <p:nvPr/>
        </p:nvSpPr>
        <p:spPr>
          <a:xfrm>
            <a:off x="0" y="3456432"/>
            <a:ext cx="12191695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🛡️  </a:t>
            </a:r>
            <a:r>
              <a:rPr lang="en-US" sz="20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Real-time sanctions screening — every payment, sub-second.</a:t>
            </a:r>
            <a:endParaRPr/>
          </a:p>
        </p:txBody>
      </p:sp>
      <p:sp>
        <p:nvSpPr>
          <p:cNvPr id="131" name="Google Shape;131;p13"/>
          <p:cNvSpPr/>
          <p:nvPr/>
        </p:nvSpPr>
        <p:spPr>
          <a:xfrm>
            <a:off x="5184648" y="4160520"/>
            <a:ext cx="1828800" cy="27432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3"/>
          <p:cNvSpPr txBox="1"/>
          <p:nvPr/>
        </p:nvSpPr>
        <p:spPr>
          <a:xfrm>
            <a:off x="0" y="4370832"/>
            <a:ext cx="1219169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👥  TEAM   </a:t>
            </a:r>
            <a:r>
              <a:rPr lang="en-US" sz="190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ctrl alt elite</a:t>
            </a:r>
            <a:endParaRPr/>
          </a:p>
        </p:txBody>
      </p:sp>
      <p:pic>
        <p:nvPicPr>
          <p:cNvPr id="133" name="Google Shape;133;p13" descr="garaza_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27167" y="5806440"/>
            <a:ext cx="1737360" cy="40261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3"/>
          <p:cNvSpPr txBox="1"/>
          <p:nvPr/>
        </p:nvSpPr>
        <p:spPr>
          <a:xfrm>
            <a:off x="0" y="6327648"/>
            <a:ext cx="1219169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FinTech AI Hackathon · Belgrade ·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5"/>
          <p:cNvSpPr/>
          <p:nvPr/>
        </p:nvSpPr>
        <p:spPr>
          <a:xfrm>
            <a:off x="-71717" y="0"/>
            <a:ext cx="12272378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5"/>
          <p:cNvSpPr/>
          <p:nvPr/>
        </p:nvSpPr>
        <p:spPr>
          <a:xfrm>
            <a:off x="422741" y="5071153"/>
            <a:ext cx="111929" cy="11192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5"/>
          <p:cNvSpPr/>
          <p:nvPr/>
        </p:nvSpPr>
        <p:spPr>
          <a:xfrm>
            <a:off x="1859185" y="1401342"/>
            <a:ext cx="107183" cy="10718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5"/>
          <p:cNvSpPr/>
          <p:nvPr/>
        </p:nvSpPr>
        <p:spPr>
          <a:xfrm>
            <a:off x="11028181" y="833898"/>
            <a:ext cx="134055" cy="134055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5"/>
          <p:cNvSpPr/>
          <p:nvPr/>
        </p:nvSpPr>
        <p:spPr>
          <a:xfrm>
            <a:off x="1049029" y="843224"/>
            <a:ext cx="76915" cy="7691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5"/>
          <p:cNvSpPr/>
          <p:nvPr/>
        </p:nvSpPr>
        <p:spPr>
          <a:xfrm>
            <a:off x="5190631" y="4047556"/>
            <a:ext cx="118023" cy="118023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5"/>
          <p:cNvSpPr/>
          <p:nvPr/>
        </p:nvSpPr>
        <p:spPr>
          <a:xfrm>
            <a:off x="2267080" y="3113494"/>
            <a:ext cx="75368" cy="7536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5"/>
          <p:cNvSpPr/>
          <p:nvPr/>
        </p:nvSpPr>
        <p:spPr>
          <a:xfrm>
            <a:off x="7244433" y="831072"/>
            <a:ext cx="69399" cy="69399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5"/>
          <p:cNvSpPr/>
          <p:nvPr/>
        </p:nvSpPr>
        <p:spPr>
          <a:xfrm>
            <a:off x="9557239" y="4706844"/>
            <a:ext cx="91760" cy="9176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5"/>
          <p:cNvSpPr/>
          <p:nvPr/>
        </p:nvSpPr>
        <p:spPr>
          <a:xfrm>
            <a:off x="6830969" y="1442088"/>
            <a:ext cx="70662" cy="7066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5"/>
          <p:cNvSpPr/>
          <p:nvPr/>
        </p:nvSpPr>
        <p:spPr>
          <a:xfrm>
            <a:off x="3421481" y="967530"/>
            <a:ext cx="57427" cy="5742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5"/>
          <p:cNvSpPr/>
          <p:nvPr/>
        </p:nvSpPr>
        <p:spPr>
          <a:xfrm>
            <a:off x="1702442" y="2325208"/>
            <a:ext cx="72776" cy="7277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5"/>
          <p:cNvSpPr/>
          <p:nvPr/>
        </p:nvSpPr>
        <p:spPr>
          <a:xfrm>
            <a:off x="9128632" y="2807145"/>
            <a:ext cx="50880" cy="5088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5"/>
          <p:cNvSpPr/>
          <p:nvPr/>
        </p:nvSpPr>
        <p:spPr>
          <a:xfrm>
            <a:off x="3682022" y="869593"/>
            <a:ext cx="118182" cy="118182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5"/>
          <p:cNvSpPr/>
          <p:nvPr/>
        </p:nvSpPr>
        <p:spPr>
          <a:xfrm>
            <a:off x="2864428" y="6232089"/>
            <a:ext cx="70431" cy="7043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5"/>
          <p:cNvSpPr/>
          <p:nvPr/>
        </p:nvSpPr>
        <p:spPr>
          <a:xfrm>
            <a:off x="6829695" y="3616363"/>
            <a:ext cx="118863" cy="11886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5"/>
          <p:cNvSpPr/>
          <p:nvPr/>
        </p:nvSpPr>
        <p:spPr>
          <a:xfrm>
            <a:off x="8376883" y="5069516"/>
            <a:ext cx="47389" cy="47389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5"/>
          <p:cNvSpPr/>
          <p:nvPr/>
        </p:nvSpPr>
        <p:spPr>
          <a:xfrm>
            <a:off x="8818029" y="1859526"/>
            <a:ext cx="49411" cy="4941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5"/>
          <p:cNvSpPr/>
          <p:nvPr/>
        </p:nvSpPr>
        <p:spPr>
          <a:xfrm>
            <a:off x="7751298" y="297109"/>
            <a:ext cx="65887" cy="6588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5"/>
          <p:cNvSpPr/>
          <p:nvPr/>
        </p:nvSpPr>
        <p:spPr>
          <a:xfrm>
            <a:off x="6600359" y="3455833"/>
            <a:ext cx="87268" cy="87268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5"/>
          <p:cNvSpPr/>
          <p:nvPr/>
        </p:nvSpPr>
        <p:spPr>
          <a:xfrm>
            <a:off x="7633833" y="5373216"/>
            <a:ext cx="111399" cy="111399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5"/>
          <p:cNvSpPr/>
          <p:nvPr/>
        </p:nvSpPr>
        <p:spPr>
          <a:xfrm>
            <a:off x="4677646" y="6193498"/>
            <a:ext cx="116682" cy="11668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5"/>
          <p:cNvSpPr/>
          <p:nvPr/>
        </p:nvSpPr>
        <p:spPr>
          <a:xfrm>
            <a:off x="6505137" y="4019800"/>
            <a:ext cx="81896" cy="81896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5"/>
          <p:cNvSpPr/>
          <p:nvPr/>
        </p:nvSpPr>
        <p:spPr>
          <a:xfrm>
            <a:off x="6326590" y="4027870"/>
            <a:ext cx="66623" cy="6662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5"/>
          <p:cNvSpPr/>
          <p:nvPr/>
        </p:nvSpPr>
        <p:spPr>
          <a:xfrm>
            <a:off x="6724752" y="2030446"/>
            <a:ext cx="67375" cy="67375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5"/>
          <p:cNvSpPr/>
          <p:nvPr/>
        </p:nvSpPr>
        <p:spPr>
          <a:xfrm>
            <a:off x="9213924" y="3951456"/>
            <a:ext cx="75624" cy="7562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5"/>
          <p:cNvSpPr/>
          <p:nvPr/>
        </p:nvSpPr>
        <p:spPr>
          <a:xfrm>
            <a:off x="757461" y="2231365"/>
            <a:ext cx="88275" cy="8827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5"/>
          <p:cNvSpPr/>
          <p:nvPr/>
        </p:nvSpPr>
        <p:spPr>
          <a:xfrm>
            <a:off x="1000838" y="5983448"/>
            <a:ext cx="80658" cy="8065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5"/>
          <p:cNvSpPr/>
          <p:nvPr/>
        </p:nvSpPr>
        <p:spPr>
          <a:xfrm>
            <a:off x="671010" y="854403"/>
            <a:ext cx="112249" cy="11224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5"/>
          <p:cNvSpPr/>
          <p:nvPr/>
        </p:nvSpPr>
        <p:spPr>
          <a:xfrm>
            <a:off x="11638343" y="5418768"/>
            <a:ext cx="54139" cy="5413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5"/>
          <p:cNvSpPr/>
          <p:nvPr/>
        </p:nvSpPr>
        <p:spPr>
          <a:xfrm>
            <a:off x="5491520" y="1522856"/>
            <a:ext cx="106954" cy="106954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5"/>
          <p:cNvSpPr/>
          <p:nvPr/>
        </p:nvSpPr>
        <p:spPr>
          <a:xfrm>
            <a:off x="4405973" y="1116901"/>
            <a:ext cx="89688" cy="8968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/>
          <p:nvPr/>
        </p:nvSpPr>
        <p:spPr>
          <a:xfrm>
            <a:off x="4414408" y="4955933"/>
            <a:ext cx="55739" cy="5573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5"/>
          <p:cNvSpPr/>
          <p:nvPr/>
        </p:nvSpPr>
        <p:spPr>
          <a:xfrm>
            <a:off x="8765034" y="1743721"/>
            <a:ext cx="130291" cy="130291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5"/>
          <p:cNvSpPr/>
          <p:nvPr/>
        </p:nvSpPr>
        <p:spPr>
          <a:xfrm>
            <a:off x="7480657" y="2511242"/>
            <a:ext cx="95831" cy="9583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5"/>
          <p:cNvSpPr/>
          <p:nvPr/>
        </p:nvSpPr>
        <p:spPr>
          <a:xfrm>
            <a:off x="7576117" y="5016196"/>
            <a:ext cx="63931" cy="6393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5"/>
          <p:cNvSpPr/>
          <p:nvPr/>
        </p:nvSpPr>
        <p:spPr>
          <a:xfrm>
            <a:off x="10462817" y="479675"/>
            <a:ext cx="90494" cy="90494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5"/>
          <p:cNvSpPr/>
          <p:nvPr/>
        </p:nvSpPr>
        <p:spPr>
          <a:xfrm>
            <a:off x="453280" y="470380"/>
            <a:ext cx="66077" cy="6607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5"/>
          <p:cNvSpPr/>
          <p:nvPr/>
        </p:nvSpPr>
        <p:spPr>
          <a:xfrm>
            <a:off x="10863611" y="1250860"/>
            <a:ext cx="117517" cy="11751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5"/>
          <p:cNvSpPr/>
          <p:nvPr/>
        </p:nvSpPr>
        <p:spPr>
          <a:xfrm>
            <a:off x="5760206" y="1567187"/>
            <a:ext cx="100205" cy="100205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5"/>
          <p:cNvSpPr/>
          <p:nvPr/>
        </p:nvSpPr>
        <p:spPr>
          <a:xfrm>
            <a:off x="9563659" y="3071288"/>
            <a:ext cx="107020" cy="10702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5"/>
          <p:cNvSpPr/>
          <p:nvPr/>
        </p:nvSpPr>
        <p:spPr>
          <a:xfrm>
            <a:off x="5358156" y="4977883"/>
            <a:ext cx="56742" cy="5674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5"/>
          <p:cNvSpPr/>
          <p:nvPr/>
        </p:nvSpPr>
        <p:spPr>
          <a:xfrm>
            <a:off x="7817664" y="6514921"/>
            <a:ext cx="85852" cy="8585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5"/>
          <p:cNvSpPr/>
          <p:nvPr/>
        </p:nvSpPr>
        <p:spPr>
          <a:xfrm>
            <a:off x="5162094" y="2575280"/>
            <a:ext cx="129170" cy="129170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5"/>
          <p:cNvSpPr/>
          <p:nvPr/>
        </p:nvSpPr>
        <p:spPr>
          <a:xfrm>
            <a:off x="6524869" y="2973921"/>
            <a:ext cx="105360" cy="10536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5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🙌  </a:t>
            </a:r>
            <a:r>
              <a:rPr lang="en-US" sz="1300" b="1" i="0" u="none" strike="noStrike" cap="non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WHO WE ARE</a:t>
            </a:r>
            <a:endParaRPr/>
          </a:p>
        </p:txBody>
      </p:sp>
      <p:sp>
        <p:nvSpPr>
          <p:cNvPr id="263" name="Google Shape;263;p15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Team — ctrl alt elite</a:t>
            </a:r>
            <a:endParaRPr/>
          </a:p>
        </p:txBody>
      </p:sp>
      <p:sp>
        <p:nvSpPr>
          <p:cNvPr id="264" name="Google Shape;264;p15"/>
          <p:cNvSpPr/>
          <p:nvPr/>
        </p:nvSpPr>
        <p:spPr>
          <a:xfrm>
            <a:off x="2731827" y="2032365"/>
            <a:ext cx="2011680" cy="2011680"/>
          </a:xfrm>
          <a:prstGeom prst="ellipse">
            <a:avLst/>
          </a:prstGeom>
          <a:solidFill>
            <a:srgbClr val="0F1626"/>
          </a:solidFill>
          <a:ln w="3175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5"/>
          <p:cNvSpPr txBox="1"/>
          <p:nvPr/>
        </p:nvSpPr>
        <p:spPr>
          <a:xfrm>
            <a:off x="1908867" y="4272645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Mateja Subin</a:t>
            </a:r>
            <a:endParaRPr/>
          </a:p>
        </p:txBody>
      </p:sp>
      <p:sp>
        <p:nvSpPr>
          <p:cNvPr id="267" name="Google Shape;267;p15"/>
          <p:cNvSpPr txBox="1"/>
          <p:nvPr/>
        </p:nvSpPr>
        <p:spPr>
          <a:xfrm>
            <a:off x="1926620" y="4708794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💻  builder · ctrl alt elite</a:t>
            </a:r>
            <a:endParaRPr/>
          </a:p>
        </p:txBody>
      </p:sp>
      <p:sp>
        <p:nvSpPr>
          <p:cNvPr id="268" name="Google Shape;268;p15"/>
          <p:cNvSpPr/>
          <p:nvPr/>
        </p:nvSpPr>
        <p:spPr>
          <a:xfrm>
            <a:off x="7177202" y="2020316"/>
            <a:ext cx="2011680" cy="2011680"/>
          </a:xfrm>
          <a:prstGeom prst="ellipse">
            <a:avLst/>
          </a:prstGeom>
          <a:solidFill>
            <a:srgbClr val="0F1626"/>
          </a:solidFill>
          <a:ln w="31750" cap="flat" cmpd="sng">
            <a:solidFill>
              <a:srgbClr val="818C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5"/>
          <p:cNvSpPr txBox="1"/>
          <p:nvPr/>
        </p:nvSpPr>
        <p:spPr>
          <a:xfrm>
            <a:off x="6354242" y="4267094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Andrija Milikić</a:t>
            </a:r>
            <a:endParaRPr/>
          </a:p>
        </p:txBody>
      </p:sp>
      <p:sp>
        <p:nvSpPr>
          <p:cNvPr id="271" name="Google Shape;271;p15"/>
          <p:cNvSpPr txBox="1"/>
          <p:nvPr/>
        </p:nvSpPr>
        <p:spPr>
          <a:xfrm>
            <a:off x="6354242" y="4684966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💻  builder · ctrl alt elite</a:t>
            </a:r>
            <a:endParaRPr/>
          </a:p>
        </p:txBody>
      </p:sp>
      <p:sp>
        <p:nvSpPr>
          <p:cNvPr id="272" name="Google Shape;272;p15"/>
          <p:cNvSpPr txBox="1"/>
          <p:nvPr/>
        </p:nvSpPr>
        <p:spPr>
          <a:xfrm>
            <a:off x="0" y="5760720"/>
            <a:ext cx="1219169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Two builders at the intersection of AI and finance.</a:t>
            </a:r>
            <a:endParaRPr/>
          </a:p>
        </p:txBody>
      </p:sp>
      <p:pic>
        <p:nvPicPr>
          <p:cNvPr id="273" name="Google Shape;273;p15" descr="garaza_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15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lang="en-US" sz="1000" b="0" i="0" u="none" strike="noStrike" cap="non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3C8704-7D09-4AA5-931C-812884FAE6A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819" t="33420" r="6687" b="25730"/>
          <a:stretch/>
        </p:blipFill>
        <p:spPr>
          <a:xfrm>
            <a:off x="2710541" y="1998489"/>
            <a:ext cx="2059794" cy="2133815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14710F-5868-42A4-B90F-709CA6F35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7202" y="2010773"/>
            <a:ext cx="2002311" cy="202702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6"/>
          <p:cNvSpPr/>
          <p:nvPr/>
        </p:nvSpPr>
        <p:spPr>
          <a:xfrm>
            <a:off x="3648902" y="5156984"/>
            <a:ext cx="86802" cy="86802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6"/>
          <p:cNvSpPr/>
          <p:nvPr/>
        </p:nvSpPr>
        <p:spPr>
          <a:xfrm>
            <a:off x="1097243" y="2159306"/>
            <a:ext cx="96486" cy="96486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6"/>
          <p:cNvSpPr/>
          <p:nvPr/>
        </p:nvSpPr>
        <p:spPr>
          <a:xfrm>
            <a:off x="10497296" y="1618790"/>
            <a:ext cx="69645" cy="69645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6"/>
          <p:cNvSpPr/>
          <p:nvPr/>
        </p:nvSpPr>
        <p:spPr>
          <a:xfrm>
            <a:off x="3925904" y="3031067"/>
            <a:ext cx="111731" cy="11173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6"/>
          <p:cNvSpPr/>
          <p:nvPr/>
        </p:nvSpPr>
        <p:spPr>
          <a:xfrm>
            <a:off x="5283591" y="5332043"/>
            <a:ext cx="68954" cy="6895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6"/>
          <p:cNvSpPr/>
          <p:nvPr/>
        </p:nvSpPr>
        <p:spPr>
          <a:xfrm>
            <a:off x="11508495" y="4866458"/>
            <a:ext cx="51885" cy="5188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6"/>
          <p:cNvSpPr/>
          <p:nvPr/>
        </p:nvSpPr>
        <p:spPr>
          <a:xfrm>
            <a:off x="420538" y="4531018"/>
            <a:ext cx="103958" cy="103958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6"/>
          <p:cNvSpPr/>
          <p:nvPr/>
        </p:nvSpPr>
        <p:spPr>
          <a:xfrm>
            <a:off x="9502915" y="3663911"/>
            <a:ext cx="86888" cy="86888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6"/>
          <p:cNvSpPr/>
          <p:nvPr/>
        </p:nvSpPr>
        <p:spPr>
          <a:xfrm>
            <a:off x="1191604" y="3116152"/>
            <a:ext cx="105108" cy="10510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6"/>
          <p:cNvSpPr/>
          <p:nvPr/>
        </p:nvSpPr>
        <p:spPr>
          <a:xfrm>
            <a:off x="6195965" y="3686727"/>
            <a:ext cx="116415" cy="11641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6"/>
          <p:cNvSpPr/>
          <p:nvPr/>
        </p:nvSpPr>
        <p:spPr>
          <a:xfrm>
            <a:off x="889826" y="3703660"/>
            <a:ext cx="51868" cy="51868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6"/>
          <p:cNvSpPr/>
          <p:nvPr/>
        </p:nvSpPr>
        <p:spPr>
          <a:xfrm>
            <a:off x="3352490" y="898460"/>
            <a:ext cx="47619" cy="4761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6"/>
          <p:cNvSpPr/>
          <p:nvPr/>
        </p:nvSpPr>
        <p:spPr>
          <a:xfrm>
            <a:off x="1282194" y="5415946"/>
            <a:ext cx="97819" cy="9781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9130088" y="3543118"/>
            <a:ext cx="74569" cy="7456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/>
          <p:nvPr/>
        </p:nvSpPr>
        <p:spPr>
          <a:xfrm>
            <a:off x="9622679" y="2344628"/>
            <a:ext cx="104390" cy="104390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8457840" y="6043351"/>
            <a:ext cx="106160" cy="10616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10165866" y="5350205"/>
            <a:ext cx="110726" cy="110726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6"/>
          <p:cNvSpPr/>
          <p:nvPr/>
        </p:nvSpPr>
        <p:spPr>
          <a:xfrm>
            <a:off x="6292490" y="4741255"/>
            <a:ext cx="76561" cy="7656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10895055" y="1790172"/>
            <a:ext cx="113808" cy="113808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6"/>
          <p:cNvSpPr/>
          <p:nvPr/>
        </p:nvSpPr>
        <p:spPr>
          <a:xfrm>
            <a:off x="3907507" y="2702804"/>
            <a:ext cx="65766" cy="65766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6"/>
          <p:cNvSpPr/>
          <p:nvPr/>
        </p:nvSpPr>
        <p:spPr>
          <a:xfrm>
            <a:off x="5676655" y="4872702"/>
            <a:ext cx="57096" cy="57096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6"/>
          <p:cNvSpPr/>
          <p:nvPr/>
        </p:nvSpPr>
        <p:spPr>
          <a:xfrm>
            <a:off x="10855494" y="5014833"/>
            <a:ext cx="103944" cy="103944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6"/>
          <p:cNvSpPr/>
          <p:nvPr/>
        </p:nvSpPr>
        <p:spPr>
          <a:xfrm>
            <a:off x="3809641" y="1484518"/>
            <a:ext cx="88759" cy="8875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6"/>
          <p:cNvSpPr/>
          <p:nvPr/>
        </p:nvSpPr>
        <p:spPr>
          <a:xfrm>
            <a:off x="7125919" y="1651879"/>
            <a:ext cx="66280" cy="6628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6"/>
          <p:cNvSpPr/>
          <p:nvPr/>
        </p:nvSpPr>
        <p:spPr>
          <a:xfrm>
            <a:off x="10837665" y="6185544"/>
            <a:ext cx="114628" cy="11462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6"/>
          <p:cNvSpPr/>
          <p:nvPr/>
        </p:nvSpPr>
        <p:spPr>
          <a:xfrm>
            <a:off x="10164529" y="3309289"/>
            <a:ext cx="115631" cy="115631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6"/>
          <p:cNvSpPr/>
          <p:nvPr/>
        </p:nvSpPr>
        <p:spPr>
          <a:xfrm>
            <a:off x="5807887" y="1633105"/>
            <a:ext cx="133800" cy="13380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6"/>
          <p:cNvSpPr/>
          <p:nvPr/>
        </p:nvSpPr>
        <p:spPr>
          <a:xfrm>
            <a:off x="11605536" y="5279033"/>
            <a:ext cx="103340" cy="103340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6"/>
          <p:cNvSpPr/>
          <p:nvPr/>
        </p:nvSpPr>
        <p:spPr>
          <a:xfrm>
            <a:off x="7863437" y="1738655"/>
            <a:ext cx="103405" cy="103405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5424899" y="1795465"/>
            <a:ext cx="109715" cy="10971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/>
          <p:nvPr/>
        </p:nvSpPr>
        <p:spPr>
          <a:xfrm>
            <a:off x="1980860" y="2273688"/>
            <a:ext cx="109307" cy="109307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/>
          <p:nvPr/>
        </p:nvSpPr>
        <p:spPr>
          <a:xfrm>
            <a:off x="7621542" y="6539949"/>
            <a:ext cx="84825" cy="8482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6856719" y="1361706"/>
            <a:ext cx="112743" cy="11274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6"/>
          <p:cNvSpPr/>
          <p:nvPr/>
        </p:nvSpPr>
        <p:spPr>
          <a:xfrm>
            <a:off x="9796731" y="752426"/>
            <a:ext cx="98135" cy="98135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6"/>
          <p:cNvSpPr/>
          <p:nvPr/>
        </p:nvSpPr>
        <p:spPr>
          <a:xfrm>
            <a:off x="10590633" y="4637067"/>
            <a:ext cx="121068" cy="121068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6"/>
          <p:cNvSpPr/>
          <p:nvPr/>
        </p:nvSpPr>
        <p:spPr>
          <a:xfrm>
            <a:off x="10211004" y="2157964"/>
            <a:ext cx="76222" cy="7622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6"/>
          <p:cNvSpPr/>
          <p:nvPr/>
        </p:nvSpPr>
        <p:spPr>
          <a:xfrm>
            <a:off x="9318849" y="3026046"/>
            <a:ext cx="99596" cy="99596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1988396" y="5516084"/>
            <a:ext cx="68451" cy="68451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6674773" y="6566318"/>
            <a:ext cx="50624" cy="50624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6"/>
          <p:cNvSpPr/>
          <p:nvPr/>
        </p:nvSpPr>
        <p:spPr>
          <a:xfrm>
            <a:off x="8210545" y="900662"/>
            <a:ext cx="79498" cy="79498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6"/>
          <p:cNvSpPr/>
          <p:nvPr/>
        </p:nvSpPr>
        <p:spPr>
          <a:xfrm>
            <a:off x="7820939" y="307073"/>
            <a:ext cx="97658" cy="9765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6"/>
          <p:cNvSpPr/>
          <p:nvPr/>
        </p:nvSpPr>
        <p:spPr>
          <a:xfrm>
            <a:off x="3585424" y="948787"/>
            <a:ext cx="108342" cy="108342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6"/>
          <p:cNvSpPr/>
          <p:nvPr/>
        </p:nvSpPr>
        <p:spPr>
          <a:xfrm>
            <a:off x="10730210" y="1195411"/>
            <a:ext cx="114296" cy="114296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6"/>
          <p:cNvSpPr/>
          <p:nvPr/>
        </p:nvSpPr>
        <p:spPr>
          <a:xfrm>
            <a:off x="11347745" y="5026189"/>
            <a:ext cx="52078" cy="5207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6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7485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🎯  </a:t>
            </a:r>
            <a:r>
              <a:rPr lang="en-US" sz="1300" b="1" i="0" u="none" strike="noStrike" cap="none">
                <a:solidFill>
                  <a:srgbClr val="F7485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PROBLEM</a:t>
            </a:r>
            <a:endParaRPr/>
          </a:p>
        </p:txBody>
      </p:sp>
      <p:sp>
        <p:nvSpPr>
          <p:cNvPr id="325" name="Google Shape;325;p16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Sanctions are easy to dodge</a:t>
            </a:r>
            <a:endParaRPr/>
          </a:p>
        </p:txBody>
      </p:sp>
      <p:sp>
        <p:nvSpPr>
          <p:cNvPr id="326" name="Google Shape;326;p16"/>
          <p:cNvSpPr txBox="1"/>
          <p:nvPr/>
        </p:nvSpPr>
        <p:spPr>
          <a:xfrm>
            <a:off x="640080" y="1645920"/>
            <a:ext cx="10789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blacklist check on a name catches the obvious. Real evasion hides one step away — behind shell companies, nominee owners and chains of intermediaries.</a:t>
            </a:r>
            <a:endParaRPr/>
          </a:p>
        </p:txBody>
      </p:sp>
      <p:sp>
        <p:nvSpPr>
          <p:cNvPr id="327" name="Google Shape;327;p16"/>
          <p:cNvSpPr/>
          <p:nvPr/>
        </p:nvSpPr>
        <p:spPr>
          <a:xfrm>
            <a:off x="822960" y="2651760"/>
            <a:ext cx="10515600" cy="713232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6"/>
          <p:cNvSpPr/>
          <p:nvPr/>
        </p:nvSpPr>
        <p:spPr>
          <a:xfrm>
            <a:off x="1005840" y="2798064"/>
            <a:ext cx="420624" cy="420624"/>
          </a:xfrm>
          <a:prstGeom prst="ellipse">
            <a:avLst/>
          </a:prstGeom>
          <a:solidFill>
            <a:srgbClr val="0F1626"/>
          </a:solidFill>
          <a:ln w="1905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6"/>
          <p:cNvSpPr txBox="1"/>
          <p:nvPr/>
        </p:nvSpPr>
        <p:spPr>
          <a:xfrm>
            <a:off x="1005840" y="2770632"/>
            <a:ext cx="42062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🏢</a:t>
            </a:r>
            <a:endParaRPr/>
          </a:p>
        </p:txBody>
      </p:sp>
      <p:sp>
        <p:nvSpPr>
          <p:cNvPr id="330" name="Google Shape;330;p16"/>
          <p:cNvSpPr txBox="1"/>
          <p:nvPr/>
        </p:nvSpPr>
        <p:spPr>
          <a:xfrm>
            <a:off x="1645920" y="2651760"/>
            <a:ext cx="32918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Shell &amp; front companies</a:t>
            </a:r>
            <a:endParaRPr/>
          </a:p>
        </p:txBody>
      </p:sp>
      <p:sp>
        <p:nvSpPr>
          <p:cNvPr id="331" name="Google Shape;331;p16"/>
          <p:cNvSpPr txBox="1"/>
          <p:nvPr/>
        </p:nvSpPr>
        <p:spPr>
          <a:xfrm>
            <a:off x="4937760" y="2651760"/>
            <a:ext cx="6217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sanctioned party routes money through a clean-looking company it secretly controls</a:t>
            </a:r>
            <a:endParaRPr/>
          </a:p>
        </p:txBody>
      </p:sp>
      <p:sp>
        <p:nvSpPr>
          <p:cNvPr id="332" name="Google Shape;332;p16"/>
          <p:cNvSpPr/>
          <p:nvPr/>
        </p:nvSpPr>
        <p:spPr>
          <a:xfrm>
            <a:off x="822960" y="3438144"/>
            <a:ext cx="10515600" cy="713232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6"/>
          <p:cNvSpPr/>
          <p:nvPr/>
        </p:nvSpPr>
        <p:spPr>
          <a:xfrm>
            <a:off x="1005840" y="3584448"/>
            <a:ext cx="420624" cy="420624"/>
          </a:xfrm>
          <a:prstGeom prst="ellipse">
            <a:avLst/>
          </a:prstGeom>
          <a:solidFill>
            <a:srgbClr val="0F1626"/>
          </a:solidFill>
          <a:ln w="19050" cap="flat" cmpd="sng">
            <a:solidFill>
              <a:srgbClr val="818C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6"/>
          <p:cNvSpPr txBox="1"/>
          <p:nvPr/>
        </p:nvSpPr>
        <p:spPr>
          <a:xfrm>
            <a:off x="1005840" y="3557015"/>
            <a:ext cx="42062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🔁</a:t>
            </a:r>
            <a:endParaRPr/>
          </a:p>
        </p:txBody>
      </p:sp>
      <p:sp>
        <p:nvSpPr>
          <p:cNvPr id="335" name="Google Shape;335;p16"/>
          <p:cNvSpPr txBox="1"/>
          <p:nvPr/>
        </p:nvSpPr>
        <p:spPr>
          <a:xfrm>
            <a:off x="1645920" y="3438144"/>
            <a:ext cx="32918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Layering &amp; hops</a:t>
            </a:r>
            <a:endParaRPr/>
          </a:p>
        </p:txBody>
      </p:sp>
      <p:sp>
        <p:nvSpPr>
          <p:cNvPr id="336" name="Google Shape;336;p16"/>
          <p:cNvSpPr txBox="1"/>
          <p:nvPr/>
        </p:nvSpPr>
        <p:spPr>
          <a:xfrm>
            <a:off x="4937760" y="3438144"/>
            <a:ext cx="6217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funds pass through several accounts so no single name matches a list</a:t>
            </a:r>
            <a:endParaRPr/>
          </a:p>
        </p:txBody>
      </p:sp>
      <p:sp>
        <p:nvSpPr>
          <p:cNvPr id="337" name="Google Shape;337;p16"/>
          <p:cNvSpPr/>
          <p:nvPr/>
        </p:nvSpPr>
        <p:spPr>
          <a:xfrm>
            <a:off x="822960" y="4224528"/>
            <a:ext cx="10515600" cy="713232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6"/>
          <p:cNvSpPr/>
          <p:nvPr/>
        </p:nvSpPr>
        <p:spPr>
          <a:xfrm>
            <a:off x="1005840" y="4370832"/>
            <a:ext cx="420624" cy="420624"/>
          </a:xfrm>
          <a:prstGeom prst="ellipse">
            <a:avLst/>
          </a:prstGeom>
          <a:solidFill>
            <a:srgbClr val="0F1626"/>
          </a:solidFill>
          <a:ln w="19050" cap="flat" cmpd="sng">
            <a:solidFill>
              <a:srgbClr val="5EEA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6"/>
          <p:cNvSpPr txBox="1"/>
          <p:nvPr/>
        </p:nvSpPr>
        <p:spPr>
          <a:xfrm>
            <a:off x="1005840" y="4343400"/>
            <a:ext cx="42062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🔤</a:t>
            </a:r>
            <a:endParaRPr/>
          </a:p>
        </p:txBody>
      </p:sp>
      <p:sp>
        <p:nvSpPr>
          <p:cNvPr id="340" name="Google Shape;340;p16"/>
          <p:cNvSpPr txBox="1"/>
          <p:nvPr/>
        </p:nvSpPr>
        <p:spPr>
          <a:xfrm>
            <a:off x="1645920" y="4224528"/>
            <a:ext cx="32918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Typos &amp; transliteration</a:t>
            </a:r>
            <a:endParaRPr/>
          </a:p>
        </p:txBody>
      </p:sp>
      <p:sp>
        <p:nvSpPr>
          <p:cNvPr id="341" name="Google Shape;341;p16"/>
          <p:cNvSpPr txBox="1"/>
          <p:nvPr/>
        </p:nvSpPr>
        <p:spPr>
          <a:xfrm>
            <a:off x="4937760" y="4224528"/>
            <a:ext cx="6217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“Qadhafi” vs “Kaddafi” — fuzzy spelling slips past exact matching</a:t>
            </a:r>
            <a:endParaRPr/>
          </a:p>
        </p:txBody>
      </p:sp>
      <p:sp>
        <p:nvSpPr>
          <p:cNvPr id="342" name="Google Shape;342;p16"/>
          <p:cNvSpPr/>
          <p:nvPr/>
        </p:nvSpPr>
        <p:spPr>
          <a:xfrm>
            <a:off x="822960" y="5010912"/>
            <a:ext cx="10515600" cy="713232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6"/>
          <p:cNvSpPr/>
          <p:nvPr/>
        </p:nvSpPr>
        <p:spPr>
          <a:xfrm>
            <a:off x="1005840" y="5157216"/>
            <a:ext cx="420624" cy="420624"/>
          </a:xfrm>
          <a:prstGeom prst="ellipse">
            <a:avLst/>
          </a:prstGeom>
          <a:solidFill>
            <a:srgbClr val="0F1626"/>
          </a:solidFill>
          <a:ln w="19050" cap="flat" cmpd="sng">
            <a:solidFill>
              <a:srgbClr val="F5C3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6"/>
          <p:cNvSpPr txBox="1"/>
          <p:nvPr/>
        </p:nvSpPr>
        <p:spPr>
          <a:xfrm>
            <a:off x="1005840" y="5129784"/>
            <a:ext cx="42062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🪙</a:t>
            </a:r>
            <a:endParaRPr/>
          </a:p>
        </p:txBody>
      </p:sp>
      <p:sp>
        <p:nvSpPr>
          <p:cNvPr id="345" name="Google Shape;345;p16"/>
          <p:cNvSpPr txBox="1"/>
          <p:nvPr/>
        </p:nvSpPr>
        <p:spPr>
          <a:xfrm>
            <a:off x="1645920" y="5010912"/>
            <a:ext cx="32918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Crypto &amp; cross-border</a:t>
            </a:r>
            <a:endParaRPr/>
          </a:p>
        </p:txBody>
      </p:sp>
      <p:sp>
        <p:nvSpPr>
          <p:cNvPr id="346" name="Google Shape;346;p16"/>
          <p:cNvSpPr txBox="1"/>
          <p:nvPr/>
        </p:nvSpPr>
        <p:spPr>
          <a:xfrm>
            <a:off x="4937760" y="5010912"/>
            <a:ext cx="621792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wallets and corridors a static list never sees</a:t>
            </a:r>
            <a:endParaRPr/>
          </a:p>
        </p:txBody>
      </p:sp>
      <p:sp>
        <p:nvSpPr>
          <p:cNvPr id="347" name="Google Shape;347;p16"/>
          <p:cNvSpPr/>
          <p:nvPr/>
        </p:nvSpPr>
        <p:spPr>
          <a:xfrm>
            <a:off x="822960" y="5843016"/>
            <a:ext cx="10515600" cy="548640"/>
          </a:xfrm>
          <a:prstGeom prst="roundRect">
            <a:avLst>
              <a:gd name="adj" fmla="val 16667"/>
            </a:avLst>
          </a:prstGeom>
          <a:solidFill>
            <a:srgbClr val="0F1626"/>
          </a:solidFill>
          <a:ln w="15225" cap="flat" cmpd="sng">
            <a:solidFill>
              <a:srgbClr val="F7485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6"/>
          <p:cNvSpPr txBox="1"/>
          <p:nvPr/>
        </p:nvSpPr>
        <p:spPr>
          <a:xfrm>
            <a:off x="1051560" y="5843016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7485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⚠️  The gap:  </a:t>
            </a:r>
            <a:r>
              <a:rPr lang="en-US" sz="14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name match isn’t enough — you have to follow the network.</a:t>
            </a:r>
            <a:endParaRPr/>
          </a:p>
        </p:txBody>
      </p:sp>
      <p:pic>
        <p:nvPicPr>
          <p:cNvPr id="349" name="Google Shape;349;p16" descr="garaza_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16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lang="en-US" sz="1000" b="0" i="0" u="none" strike="noStrike" cap="non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7"/>
          <p:cNvSpPr/>
          <p:nvPr/>
        </p:nvSpPr>
        <p:spPr>
          <a:xfrm>
            <a:off x="2486517" y="4876983"/>
            <a:ext cx="114851" cy="11485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7"/>
          <p:cNvSpPr/>
          <p:nvPr/>
        </p:nvSpPr>
        <p:spPr>
          <a:xfrm>
            <a:off x="8641745" y="2336316"/>
            <a:ext cx="52470" cy="5247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7"/>
          <p:cNvSpPr/>
          <p:nvPr/>
        </p:nvSpPr>
        <p:spPr>
          <a:xfrm>
            <a:off x="7442401" y="1063907"/>
            <a:ext cx="58832" cy="58832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7"/>
          <p:cNvSpPr/>
          <p:nvPr/>
        </p:nvSpPr>
        <p:spPr>
          <a:xfrm>
            <a:off x="4863954" y="5547291"/>
            <a:ext cx="52311" cy="5231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7"/>
          <p:cNvSpPr/>
          <p:nvPr/>
        </p:nvSpPr>
        <p:spPr>
          <a:xfrm>
            <a:off x="517371" y="6503696"/>
            <a:ext cx="102134" cy="102134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7"/>
          <p:cNvSpPr/>
          <p:nvPr/>
        </p:nvSpPr>
        <p:spPr>
          <a:xfrm>
            <a:off x="10954429" y="2942299"/>
            <a:ext cx="93067" cy="93067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7"/>
          <p:cNvSpPr/>
          <p:nvPr/>
        </p:nvSpPr>
        <p:spPr>
          <a:xfrm>
            <a:off x="9785211" y="2681314"/>
            <a:ext cx="75868" cy="75868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7"/>
          <p:cNvSpPr/>
          <p:nvPr/>
        </p:nvSpPr>
        <p:spPr>
          <a:xfrm>
            <a:off x="8678714" y="4124867"/>
            <a:ext cx="103419" cy="103419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7"/>
          <p:cNvSpPr/>
          <p:nvPr/>
        </p:nvSpPr>
        <p:spPr>
          <a:xfrm>
            <a:off x="7894882" y="4096327"/>
            <a:ext cx="94339" cy="94339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7"/>
          <p:cNvSpPr/>
          <p:nvPr/>
        </p:nvSpPr>
        <p:spPr>
          <a:xfrm>
            <a:off x="3741814" y="3032673"/>
            <a:ext cx="60707" cy="6070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7"/>
          <p:cNvSpPr/>
          <p:nvPr/>
        </p:nvSpPr>
        <p:spPr>
          <a:xfrm>
            <a:off x="9402704" y="5472739"/>
            <a:ext cx="57303" cy="5730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7"/>
          <p:cNvSpPr/>
          <p:nvPr/>
        </p:nvSpPr>
        <p:spPr>
          <a:xfrm>
            <a:off x="6579163" y="2469152"/>
            <a:ext cx="56089" cy="56089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7"/>
          <p:cNvSpPr/>
          <p:nvPr/>
        </p:nvSpPr>
        <p:spPr>
          <a:xfrm>
            <a:off x="11731844" y="3508052"/>
            <a:ext cx="106840" cy="10684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7"/>
          <p:cNvSpPr/>
          <p:nvPr/>
        </p:nvSpPr>
        <p:spPr>
          <a:xfrm>
            <a:off x="6803771" y="398333"/>
            <a:ext cx="102530" cy="10253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7"/>
          <p:cNvSpPr/>
          <p:nvPr/>
        </p:nvSpPr>
        <p:spPr>
          <a:xfrm>
            <a:off x="3011212" y="3892218"/>
            <a:ext cx="69800" cy="6980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7"/>
          <p:cNvSpPr/>
          <p:nvPr/>
        </p:nvSpPr>
        <p:spPr>
          <a:xfrm>
            <a:off x="3264642" y="5840029"/>
            <a:ext cx="99104" cy="9910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7"/>
          <p:cNvSpPr/>
          <p:nvPr/>
        </p:nvSpPr>
        <p:spPr>
          <a:xfrm>
            <a:off x="10759869" y="3682113"/>
            <a:ext cx="86710" cy="86710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7"/>
          <p:cNvSpPr/>
          <p:nvPr/>
        </p:nvSpPr>
        <p:spPr>
          <a:xfrm>
            <a:off x="2117449" y="4967713"/>
            <a:ext cx="70204" cy="70204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7"/>
          <p:cNvSpPr/>
          <p:nvPr/>
        </p:nvSpPr>
        <p:spPr>
          <a:xfrm>
            <a:off x="1578337" y="5469329"/>
            <a:ext cx="111337" cy="11133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7"/>
          <p:cNvSpPr/>
          <p:nvPr/>
        </p:nvSpPr>
        <p:spPr>
          <a:xfrm>
            <a:off x="9047515" y="2536126"/>
            <a:ext cx="111402" cy="111402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7"/>
          <p:cNvSpPr/>
          <p:nvPr/>
        </p:nvSpPr>
        <p:spPr>
          <a:xfrm>
            <a:off x="5475805" y="2792177"/>
            <a:ext cx="113743" cy="11374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7"/>
          <p:cNvSpPr/>
          <p:nvPr/>
        </p:nvSpPr>
        <p:spPr>
          <a:xfrm>
            <a:off x="3752055" y="4494349"/>
            <a:ext cx="73637" cy="73637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7"/>
          <p:cNvSpPr/>
          <p:nvPr/>
        </p:nvSpPr>
        <p:spPr>
          <a:xfrm>
            <a:off x="2000127" y="2846929"/>
            <a:ext cx="106939" cy="106939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7"/>
          <p:cNvSpPr/>
          <p:nvPr/>
        </p:nvSpPr>
        <p:spPr>
          <a:xfrm>
            <a:off x="6829012" y="1332403"/>
            <a:ext cx="65007" cy="6500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7"/>
          <p:cNvSpPr/>
          <p:nvPr/>
        </p:nvSpPr>
        <p:spPr>
          <a:xfrm>
            <a:off x="765470" y="5210835"/>
            <a:ext cx="103327" cy="10332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7"/>
          <p:cNvSpPr/>
          <p:nvPr/>
        </p:nvSpPr>
        <p:spPr>
          <a:xfrm>
            <a:off x="11409328" y="4042240"/>
            <a:ext cx="75816" cy="7581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7"/>
          <p:cNvSpPr/>
          <p:nvPr/>
        </p:nvSpPr>
        <p:spPr>
          <a:xfrm>
            <a:off x="8969850" y="3315829"/>
            <a:ext cx="107039" cy="10703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7"/>
          <p:cNvSpPr/>
          <p:nvPr/>
        </p:nvSpPr>
        <p:spPr>
          <a:xfrm>
            <a:off x="9832297" y="974489"/>
            <a:ext cx="133251" cy="133251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7"/>
          <p:cNvSpPr/>
          <p:nvPr/>
        </p:nvSpPr>
        <p:spPr>
          <a:xfrm>
            <a:off x="6305944" y="2975422"/>
            <a:ext cx="69179" cy="69179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7"/>
          <p:cNvSpPr/>
          <p:nvPr/>
        </p:nvSpPr>
        <p:spPr>
          <a:xfrm>
            <a:off x="3615709" y="4144657"/>
            <a:ext cx="73260" cy="7326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7"/>
          <p:cNvSpPr/>
          <p:nvPr/>
        </p:nvSpPr>
        <p:spPr>
          <a:xfrm>
            <a:off x="8971844" y="2165326"/>
            <a:ext cx="50825" cy="50825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7"/>
          <p:cNvSpPr/>
          <p:nvPr/>
        </p:nvSpPr>
        <p:spPr>
          <a:xfrm>
            <a:off x="10058682" y="1768734"/>
            <a:ext cx="116863" cy="11686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7"/>
          <p:cNvSpPr/>
          <p:nvPr/>
        </p:nvSpPr>
        <p:spPr>
          <a:xfrm>
            <a:off x="8302317" y="3572767"/>
            <a:ext cx="68126" cy="6812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7"/>
          <p:cNvSpPr/>
          <p:nvPr/>
        </p:nvSpPr>
        <p:spPr>
          <a:xfrm>
            <a:off x="11185038" y="5819498"/>
            <a:ext cx="99179" cy="9917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7"/>
          <p:cNvSpPr/>
          <p:nvPr/>
        </p:nvSpPr>
        <p:spPr>
          <a:xfrm>
            <a:off x="10318470" y="2906647"/>
            <a:ext cx="61943" cy="6194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7"/>
          <p:cNvSpPr/>
          <p:nvPr/>
        </p:nvSpPr>
        <p:spPr>
          <a:xfrm>
            <a:off x="6797121" y="5969871"/>
            <a:ext cx="123869" cy="123869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7"/>
          <p:cNvSpPr/>
          <p:nvPr/>
        </p:nvSpPr>
        <p:spPr>
          <a:xfrm>
            <a:off x="10502726" y="3888409"/>
            <a:ext cx="67380" cy="67380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7"/>
          <p:cNvSpPr/>
          <p:nvPr/>
        </p:nvSpPr>
        <p:spPr>
          <a:xfrm>
            <a:off x="418272" y="1321755"/>
            <a:ext cx="78641" cy="7864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7"/>
          <p:cNvSpPr/>
          <p:nvPr/>
        </p:nvSpPr>
        <p:spPr>
          <a:xfrm>
            <a:off x="1797193" y="4628075"/>
            <a:ext cx="68120" cy="6812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7"/>
          <p:cNvSpPr/>
          <p:nvPr/>
        </p:nvSpPr>
        <p:spPr>
          <a:xfrm>
            <a:off x="10694713" y="2185001"/>
            <a:ext cx="114039" cy="11403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7"/>
          <p:cNvSpPr/>
          <p:nvPr/>
        </p:nvSpPr>
        <p:spPr>
          <a:xfrm>
            <a:off x="10462271" y="1516732"/>
            <a:ext cx="96379" cy="96379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"/>
          <p:cNvSpPr/>
          <p:nvPr/>
        </p:nvSpPr>
        <p:spPr>
          <a:xfrm>
            <a:off x="2434346" y="5553631"/>
            <a:ext cx="80283" cy="8028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7"/>
          <p:cNvSpPr/>
          <p:nvPr/>
        </p:nvSpPr>
        <p:spPr>
          <a:xfrm>
            <a:off x="7602878" y="4663942"/>
            <a:ext cx="84717" cy="8471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7"/>
          <p:cNvSpPr/>
          <p:nvPr/>
        </p:nvSpPr>
        <p:spPr>
          <a:xfrm>
            <a:off x="2387386" y="5822147"/>
            <a:ext cx="79943" cy="79943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📊  </a:t>
            </a:r>
            <a:r>
              <a:rPr lang="en-US" sz="1300" b="1" i="0" u="none" strike="noStrike" cap="non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FUN FACTS</a:t>
            </a:r>
            <a:endParaRPr/>
          </a:p>
        </p:txBody>
      </p:sp>
      <p:sp>
        <p:nvSpPr>
          <p:cNvPr id="401" name="Google Shape;401;p17"/>
          <p:cNvSpPr txBox="1"/>
          <p:nvPr/>
        </p:nvSpPr>
        <p:spPr>
          <a:xfrm>
            <a:off x="640080" y="841248"/>
            <a:ext cx="8762624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Financial crime, by the numbers</a:t>
            </a:r>
            <a:endParaRPr/>
          </a:p>
        </p:txBody>
      </p:sp>
      <p:sp>
        <p:nvSpPr>
          <p:cNvPr id="402" name="Google Shape;402;p17"/>
          <p:cNvSpPr/>
          <p:nvPr/>
        </p:nvSpPr>
        <p:spPr>
          <a:xfrm>
            <a:off x="822960" y="2011680"/>
            <a:ext cx="3429000" cy="1371600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822960" y="2011680"/>
            <a:ext cx="73152" cy="1371600"/>
          </a:xfrm>
          <a:prstGeom prst="rect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 txBox="1"/>
          <p:nvPr/>
        </p:nvSpPr>
        <p:spPr>
          <a:xfrm>
            <a:off x="1024128" y="210312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🌍</a:t>
            </a:r>
            <a:endParaRPr/>
          </a:p>
        </p:txBody>
      </p:sp>
      <p:sp>
        <p:nvSpPr>
          <p:cNvPr id="405" name="Google Shape;405;p17"/>
          <p:cNvSpPr txBox="1"/>
          <p:nvPr/>
        </p:nvSpPr>
        <p:spPr>
          <a:xfrm>
            <a:off x="1691640" y="210312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cap="non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2–5%</a:t>
            </a:r>
            <a:endParaRPr/>
          </a:p>
        </p:txBody>
      </p:sp>
      <p:sp>
        <p:nvSpPr>
          <p:cNvPr id="406" name="Google Shape;406;p17"/>
          <p:cNvSpPr txBox="1"/>
          <p:nvPr/>
        </p:nvSpPr>
        <p:spPr>
          <a:xfrm>
            <a:off x="1069848" y="272491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global GDP is laundered every year — up to $2 trillion</a:t>
            </a:r>
            <a:endParaRPr/>
          </a:p>
        </p:txBody>
      </p:sp>
      <p:sp>
        <p:nvSpPr>
          <p:cNvPr id="407" name="Google Shape;407;p17"/>
          <p:cNvSpPr/>
          <p:nvPr/>
        </p:nvSpPr>
        <p:spPr>
          <a:xfrm>
            <a:off x="4526280" y="2011680"/>
            <a:ext cx="3429000" cy="1371600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4526280" y="2011680"/>
            <a:ext cx="73152" cy="1371600"/>
          </a:xfrm>
          <a:prstGeom prst="rect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 txBox="1"/>
          <p:nvPr/>
        </p:nvSpPr>
        <p:spPr>
          <a:xfrm>
            <a:off x="4727448" y="210312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🕵️</a:t>
            </a:r>
            <a:endParaRPr/>
          </a:p>
        </p:txBody>
      </p:sp>
      <p:sp>
        <p:nvSpPr>
          <p:cNvPr id="410" name="Google Shape;410;p17"/>
          <p:cNvSpPr txBox="1"/>
          <p:nvPr/>
        </p:nvSpPr>
        <p:spPr>
          <a:xfrm>
            <a:off x="5394960" y="210312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cap="none">
                <a:solidFill>
                  <a:srgbClr val="F7485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~1%</a:t>
            </a:r>
            <a:endParaRPr/>
          </a:p>
        </p:txBody>
      </p:sp>
      <p:sp>
        <p:nvSpPr>
          <p:cNvPr id="411" name="Google Shape;411;p17"/>
          <p:cNvSpPr txBox="1"/>
          <p:nvPr/>
        </p:nvSpPr>
        <p:spPr>
          <a:xfrm>
            <a:off x="4773168" y="272491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that laundered money is ever detected or seized</a:t>
            </a:r>
            <a:endParaRPr/>
          </a:p>
        </p:txBody>
      </p:sp>
      <p:sp>
        <p:nvSpPr>
          <p:cNvPr id="412" name="Google Shape;412;p17"/>
          <p:cNvSpPr/>
          <p:nvPr/>
        </p:nvSpPr>
        <p:spPr>
          <a:xfrm>
            <a:off x="8229600" y="2011680"/>
            <a:ext cx="3429000" cy="1371600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8229600" y="2011680"/>
            <a:ext cx="73152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7"/>
          <p:cNvSpPr txBox="1"/>
          <p:nvPr/>
        </p:nvSpPr>
        <p:spPr>
          <a:xfrm>
            <a:off x="8430768" y="210312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🏢</a:t>
            </a:r>
            <a:endParaRPr/>
          </a:p>
        </p:txBody>
      </p:sp>
      <p:sp>
        <p:nvSpPr>
          <p:cNvPr id="415" name="Google Shape;415;p17"/>
          <p:cNvSpPr txBox="1"/>
          <p:nvPr/>
        </p:nvSpPr>
        <p:spPr>
          <a:xfrm>
            <a:off x="9098280" y="210312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cap="non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$70B</a:t>
            </a:r>
            <a:endParaRPr/>
          </a:p>
        </p:txBody>
      </p:sp>
      <p:sp>
        <p:nvSpPr>
          <p:cNvPr id="416" name="Google Shape;416;p17"/>
          <p:cNvSpPr txBox="1"/>
          <p:nvPr/>
        </p:nvSpPr>
        <p:spPr>
          <a:xfrm>
            <a:off x="8476488" y="272491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estimated yearly cost of shell-company abuse to the US alone</a:t>
            </a:r>
            <a:endParaRPr/>
          </a:p>
        </p:txBody>
      </p:sp>
      <p:sp>
        <p:nvSpPr>
          <p:cNvPr id="417" name="Google Shape;417;p17"/>
          <p:cNvSpPr/>
          <p:nvPr/>
        </p:nvSpPr>
        <p:spPr>
          <a:xfrm>
            <a:off x="822960" y="3703320"/>
            <a:ext cx="3429000" cy="1371600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822960" y="3703320"/>
            <a:ext cx="73152" cy="13716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/>
        </p:nvSpPr>
        <p:spPr>
          <a:xfrm>
            <a:off x="1024128" y="379476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📂</a:t>
            </a:r>
            <a:endParaRPr/>
          </a:p>
        </p:txBody>
      </p:sp>
      <p:sp>
        <p:nvSpPr>
          <p:cNvPr id="420" name="Google Shape;420;p17"/>
          <p:cNvSpPr txBox="1"/>
          <p:nvPr/>
        </p:nvSpPr>
        <p:spPr>
          <a:xfrm>
            <a:off x="1691640" y="379476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cap="non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29,000</a:t>
            </a:r>
            <a:endParaRPr/>
          </a:p>
        </p:txBody>
      </p:sp>
      <p:sp>
        <p:nvSpPr>
          <p:cNvPr id="421" name="Google Shape;421;p17"/>
          <p:cNvSpPr txBox="1"/>
          <p:nvPr/>
        </p:nvSpPr>
        <p:spPr>
          <a:xfrm>
            <a:off x="1069848" y="441655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shell companies exposed in the Pandora Papers leak</a:t>
            </a:r>
            <a:endParaRPr/>
          </a:p>
        </p:txBody>
      </p:sp>
      <p:sp>
        <p:nvSpPr>
          <p:cNvPr id="422" name="Google Shape;422;p17"/>
          <p:cNvSpPr/>
          <p:nvPr/>
        </p:nvSpPr>
        <p:spPr>
          <a:xfrm>
            <a:off x="4526280" y="3703320"/>
            <a:ext cx="3429000" cy="1371600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7"/>
          <p:cNvSpPr/>
          <p:nvPr/>
        </p:nvSpPr>
        <p:spPr>
          <a:xfrm>
            <a:off x="4526280" y="3703320"/>
            <a:ext cx="73152" cy="1371600"/>
          </a:xfrm>
          <a:prstGeom prst="rect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7"/>
          <p:cNvSpPr txBox="1"/>
          <p:nvPr/>
        </p:nvSpPr>
        <p:spPr>
          <a:xfrm>
            <a:off x="4727448" y="379476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📈</a:t>
            </a:r>
            <a:endParaRPr/>
          </a:p>
        </p:txBody>
      </p:sp>
      <p:sp>
        <p:nvSpPr>
          <p:cNvPr id="425" name="Google Shape;425;p17"/>
          <p:cNvSpPr txBox="1"/>
          <p:nvPr/>
        </p:nvSpPr>
        <p:spPr>
          <a:xfrm>
            <a:off x="5394960" y="379476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cap="non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100+</a:t>
            </a:r>
            <a:endParaRPr/>
          </a:p>
        </p:txBody>
      </p:sp>
      <p:sp>
        <p:nvSpPr>
          <p:cNvPr id="426" name="Google Shape;426;p17"/>
          <p:cNvSpPr txBox="1"/>
          <p:nvPr/>
        </p:nvSpPr>
        <p:spPr>
          <a:xfrm>
            <a:off x="4773168" y="441655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names added to OFAC’s sanctions list 8 separate times in 2024</a:t>
            </a:r>
            <a:endParaRPr/>
          </a:p>
        </p:txBody>
      </p:sp>
      <p:sp>
        <p:nvSpPr>
          <p:cNvPr id="427" name="Google Shape;427;p17"/>
          <p:cNvSpPr/>
          <p:nvPr/>
        </p:nvSpPr>
        <p:spPr>
          <a:xfrm>
            <a:off x="8229600" y="3703320"/>
            <a:ext cx="3429000" cy="1371600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7"/>
          <p:cNvSpPr/>
          <p:nvPr/>
        </p:nvSpPr>
        <p:spPr>
          <a:xfrm>
            <a:off x="8229600" y="3703320"/>
            <a:ext cx="73152" cy="1371600"/>
          </a:xfrm>
          <a:prstGeom prst="rect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7"/>
          <p:cNvSpPr txBox="1"/>
          <p:nvPr/>
        </p:nvSpPr>
        <p:spPr>
          <a:xfrm>
            <a:off x="8430768" y="3794760"/>
            <a:ext cx="640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💸</a:t>
            </a:r>
            <a:endParaRPr/>
          </a:p>
        </p:txBody>
      </p:sp>
      <p:sp>
        <p:nvSpPr>
          <p:cNvPr id="430" name="Google Shape;430;p17"/>
          <p:cNvSpPr txBox="1"/>
          <p:nvPr/>
        </p:nvSpPr>
        <p:spPr>
          <a:xfrm>
            <a:off x="9098280" y="3794760"/>
            <a:ext cx="24231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i="0" u="none" strike="noStrike" cap="non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$3T+</a:t>
            </a:r>
            <a:endParaRPr/>
          </a:p>
        </p:txBody>
      </p:sp>
      <p:sp>
        <p:nvSpPr>
          <p:cNvPr id="431" name="Google Shape;431;p17"/>
          <p:cNvSpPr txBox="1"/>
          <p:nvPr/>
        </p:nvSpPr>
        <p:spPr>
          <a:xfrm>
            <a:off x="8476488" y="4416552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 illicit funds flowed through the financial system in 2023</a:t>
            </a:r>
            <a:endParaRPr/>
          </a:p>
        </p:txBody>
      </p:sp>
      <p:sp>
        <p:nvSpPr>
          <p:cNvPr id="432" name="Google Shape;432;p17"/>
          <p:cNvSpPr txBox="1"/>
          <p:nvPr/>
        </p:nvSpPr>
        <p:spPr>
          <a:xfrm>
            <a:off x="822960" y="63550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Sources: UNODC · OCCRP · FinCEN · ICIJ Pandora Papers · CNAS 2024 · AML Intelligence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39DBB5-4DAF-4EFB-AB5D-0D427022B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23" y="375621"/>
            <a:ext cx="12604377" cy="7088481"/>
          </a:xfrm>
          <a:prstGeom prst="rect">
            <a:avLst/>
          </a:prstGeom>
        </p:spPr>
      </p:pic>
      <p:pic>
        <p:nvPicPr>
          <p:cNvPr id="9" name="Google Shape;544;p18" descr="garaza_logo.png">
            <a:extLst>
              <a:ext uri="{FF2B5EF4-FFF2-40B4-BE49-F238E27FC236}">
                <a16:creationId xmlns:a16="http://schemas.microsoft.com/office/drawing/2014/main" id="{F1AA7A6B-A2D9-4315-9156-E257F6498A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DE78FE1-26E3-4DEB-A4D4-8F20F8FC67D4}"/>
              </a:ext>
            </a:extLst>
          </p:cNvPr>
          <p:cNvSpPr/>
          <p:nvPr/>
        </p:nvSpPr>
        <p:spPr>
          <a:xfrm>
            <a:off x="776619" y="769345"/>
            <a:ext cx="5175600" cy="528918"/>
          </a:xfrm>
          <a:prstGeom prst="rect">
            <a:avLst/>
          </a:prstGeom>
          <a:solidFill>
            <a:srgbClr val="050B15"/>
          </a:solidFill>
          <a:ln>
            <a:solidFill>
              <a:srgbClr val="050B1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Google Shape;482;p18">
            <a:extLst>
              <a:ext uri="{FF2B5EF4-FFF2-40B4-BE49-F238E27FC236}">
                <a16:creationId xmlns:a16="http://schemas.microsoft.com/office/drawing/2014/main" id="{93FBBEBE-2B18-471F-BA0F-7364F6A9E6DA}"/>
              </a:ext>
            </a:extLst>
          </p:cNvPr>
          <p:cNvSpPr txBox="1"/>
          <p:nvPr/>
        </p:nvSpPr>
        <p:spPr>
          <a:xfrm>
            <a:off x="640080" y="457200"/>
            <a:ext cx="8229600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⚙️</a:t>
            </a:r>
            <a:r>
              <a:rPr lang="en-US" sz="1400" b="1" i="0" u="none" strike="noStrike" cap="none">
                <a:solidFill>
                  <a:srgbClr val="36B5E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</a:t>
            </a:r>
            <a:r>
              <a:rPr lang="en-US" sz="1300" b="1" i="0" u="none" strike="noStrike" cap="none">
                <a:solidFill>
                  <a:srgbClr val="36B5E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HOW IT WORKS</a:t>
            </a:r>
            <a:endParaRPr>
              <a:solidFill>
                <a:srgbClr val="36B5ED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D8A0AB-0434-4B29-9C38-0D85EE9D41F6}"/>
              </a:ext>
            </a:extLst>
          </p:cNvPr>
          <p:cNvSpPr/>
          <p:nvPr/>
        </p:nvSpPr>
        <p:spPr>
          <a:xfrm>
            <a:off x="-587978" y="363819"/>
            <a:ext cx="941294" cy="6921650"/>
          </a:xfrm>
          <a:prstGeom prst="rect">
            <a:avLst/>
          </a:prstGeom>
          <a:solidFill>
            <a:srgbClr val="050B15"/>
          </a:solidFill>
          <a:ln>
            <a:solidFill>
              <a:srgbClr val="050B1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Google Shape;391;p17">
            <a:extLst>
              <a:ext uri="{FF2B5EF4-FFF2-40B4-BE49-F238E27FC236}">
                <a16:creationId xmlns:a16="http://schemas.microsoft.com/office/drawing/2014/main" id="{7D7F6494-151D-425D-BD33-7A22A89A6353}"/>
              </a:ext>
            </a:extLst>
          </p:cNvPr>
          <p:cNvSpPr/>
          <p:nvPr/>
        </p:nvSpPr>
        <p:spPr>
          <a:xfrm>
            <a:off x="6797121" y="5969871"/>
            <a:ext cx="123869" cy="123869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360;p17">
            <a:extLst>
              <a:ext uri="{FF2B5EF4-FFF2-40B4-BE49-F238E27FC236}">
                <a16:creationId xmlns:a16="http://schemas.microsoft.com/office/drawing/2014/main" id="{85FBFB77-FB7E-4E78-9380-AB560B10F771}"/>
              </a:ext>
            </a:extLst>
          </p:cNvPr>
          <p:cNvSpPr/>
          <p:nvPr/>
        </p:nvSpPr>
        <p:spPr>
          <a:xfrm>
            <a:off x="517371" y="6503696"/>
            <a:ext cx="102134" cy="102134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368;p17">
            <a:extLst>
              <a:ext uri="{FF2B5EF4-FFF2-40B4-BE49-F238E27FC236}">
                <a16:creationId xmlns:a16="http://schemas.microsoft.com/office/drawing/2014/main" id="{C38DAEDC-FFBB-44AA-BBAA-58539E86A8FF}"/>
              </a:ext>
            </a:extLst>
          </p:cNvPr>
          <p:cNvSpPr/>
          <p:nvPr/>
        </p:nvSpPr>
        <p:spPr>
          <a:xfrm>
            <a:off x="11731844" y="3508052"/>
            <a:ext cx="106840" cy="10684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369;p17">
            <a:extLst>
              <a:ext uri="{FF2B5EF4-FFF2-40B4-BE49-F238E27FC236}">
                <a16:creationId xmlns:a16="http://schemas.microsoft.com/office/drawing/2014/main" id="{BF7E7126-71D0-4983-AEC5-B4640D5F57F2}"/>
              </a:ext>
            </a:extLst>
          </p:cNvPr>
          <p:cNvSpPr/>
          <p:nvPr/>
        </p:nvSpPr>
        <p:spPr>
          <a:xfrm>
            <a:off x="6803771" y="398333"/>
            <a:ext cx="102530" cy="10253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371;p17">
            <a:extLst>
              <a:ext uri="{FF2B5EF4-FFF2-40B4-BE49-F238E27FC236}">
                <a16:creationId xmlns:a16="http://schemas.microsoft.com/office/drawing/2014/main" id="{4887DADC-36D3-45DB-A031-1337E790551E}"/>
              </a:ext>
            </a:extLst>
          </p:cNvPr>
          <p:cNvSpPr/>
          <p:nvPr/>
        </p:nvSpPr>
        <p:spPr>
          <a:xfrm>
            <a:off x="3264642" y="5840029"/>
            <a:ext cx="99104" cy="9910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374;p17">
            <a:extLst>
              <a:ext uri="{FF2B5EF4-FFF2-40B4-BE49-F238E27FC236}">
                <a16:creationId xmlns:a16="http://schemas.microsoft.com/office/drawing/2014/main" id="{7A7FF964-FFF8-4440-8EFE-C3404928A93E}"/>
              </a:ext>
            </a:extLst>
          </p:cNvPr>
          <p:cNvSpPr/>
          <p:nvPr/>
        </p:nvSpPr>
        <p:spPr>
          <a:xfrm>
            <a:off x="1578337" y="5469329"/>
            <a:ext cx="111337" cy="11133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380;p17">
            <a:extLst>
              <a:ext uri="{FF2B5EF4-FFF2-40B4-BE49-F238E27FC236}">
                <a16:creationId xmlns:a16="http://schemas.microsoft.com/office/drawing/2014/main" id="{B771CEE2-D99D-42D2-A635-C2F671EDF826}"/>
              </a:ext>
            </a:extLst>
          </p:cNvPr>
          <p:cNvSpPr/>
          <p:nvPr/>
        </p:nvSpPr>
        <p:spPr>
          <a:xfrm>
            <a:off x="765470" y="5210835"/>
            <a:ext cx="103327" cy="10332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387;p17">
            <a:extLst>
              <a:ext uri="{FF2B5EF4-FFF2-40B4-BE49-F238E27FC236}">
                <a16:creationId xmlns:a16="http://schemas.microsoft.com/office/drawing/2014/main" id="{0F76E989-76E3-4B01-8656-BCB661D08466}"/>
              </a:ext>
            </a:extLst>
          </p:cNvPr>
          <p:cNvSpPr/>
          <p:nvPr/>
        </p:nvSpPr>
        <p:spPr>
          <a:xfrm>
            <a:off x="10058682" y="1768734"/>
            <a:ext cx="116863" cy="11686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389;p17">
            <a:extLst>
              <a:ext uri="{FF2B5EF4-FFF2-40B4-BE49-F238E27FC236}">
                <a16:creationId xmlns:a16="http://schemas.microsoft.com/office/drawing/2014/main" id="{B8B4F5EC-837A-4618-9CC6-906FCCFF8D2C}"/>
              </a:ext>
            </a:extLst>
          </p:cNvPr>
          <p:cNvSpPr/>
          <p:nvPr/>
        </p:nvSpPr>
        <p:spPr>
          <a:xfrm>
            <a:off x="11185038" y="5819498"/>
            <a:ext cx="99179" cy="9917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399;p17">
            <a:extLst>
              <a:ext uri="{FF2B5EF4-FFF2-40B4-BE49-F238E27FC236}">
                <a16:creationId xmlns:a16="http://schemas.microsoft.com/office/drawing/2014/main" id="{1D5E053E-81EC-47BF-97AA-A980D852E602}"/>
              </a:ext>
            </a:extLst>
          </p:cNvPr>
          <p:cNvSpPr/>
          <p:nvPr/>
        </p:nvSpPr>
        <p:spPr>
          <a:xfrm>
            <a:off x="2387386" y="5822147"/>
            <a:ext cx="79943" cy="79943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383;p17">
            <a:extLst>
              <a:ext uri="{FF2B5EF4-FFF2-40B4-BE49-F238E27FC236}">
                <a16:creationId xmlns:a16="http://schemas.microsoft.com/office/drawing/2014/main" id="{C6F5A0E4-886A-449A-BEC7-4057E6EA321E}"/>
              </a:ext>
            </a:extLst>
          </p:cNvPr>
          <p:cNvSpPr/>
          <p:nvPr/>
        </p:nvSpPr>
        <p:spPr>
          <a:xfrm>
            <a:off x="9832297" y="974489"/>
            <a:ext cx="133251" cy="133251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396;p17">
            <a:extLst>
              <a:ext uri="{FF2B5EF4-FFF2-40B4-BE49-F238E27FC236}">
                <a16:creationId xmlns:a16="http://schemas.microsoft.com/office/drawing/2014/main" id="{A34D3EC6-1958-40BB-B6AB-941431CB0E93}"/>
              </a:ext>
            </a:extLst>
          </p:cNvPr>
          <p:cNvSpPr/>
          <p:nvPr/>
        </p:nvSpPr>
        <p:spPr>
          <a:xfrm>
            <a:off x="10462271" y="1516732"/>
            <a:ext cx="96379" cy="96379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EEF445-4C00-494C-81D0-8357C3090C18}"/>
              </a:ext>
            </a:extLst>
          </p:cNvPr>
          <p:cNvSpPr/>
          <p:nvPr/>
        </p:nvSpPr>
        <p:spPr>
          <a:xfrm>
            <a:off x="-200414" y="-164241"/>
            <a:ext cx="12473096" cy="528060"/>
          </a:xfrm>
          <a:prstGeom prst="rect">
            <a:avLst/>
          </a:prstGeom>
          <a:solidFill>
            <a:srgbClr val="050B15"/>
          </a:solidFill>
          <a:ln>
            <a:solidFill>
              <a:srgbClr val="050B1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4DA7AA-3653-4F3F-9BD0-69D3E9C61F50}"/>
              </a:ext>
            </a:extLst>
          </p:cNvPr>
          <p:cNvSpPr txBox="1"/>
          <p:nvPr/>
        </p:nvSpPr>
        <p:spPr>
          <a:xfrm>
            <a:off x="640080" y="784449"/>
            <a:ext cx="6714564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FFFFFF"/>
                </a:solidFill>
                <a:latin typeface="Quattrocento Sans"/>
                <a:sym typeface="Quattrocento Sans"/>
              </a:rPr>
              <a:t>We don’t just say “2 hops away”</a:t>
            </a:r>
            <a:endParaRPr lang="en-US" sz="3400"/>
          </a:p>
        </p:txBody>
      </p:sp>
    </p:spTree>
    <p:extLst>
      <p:ext uri="{BB962C8B-B14F-4D97-AF65-F5344CB8AC3E}">
        <p14:creationId xmlns:p14="http://schemas.microsoft.com/office/powerpoint/2010/main" val="1475500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8"/>
          <p:cNvSpPr/>
          <p:nvPr/>
        </p:nvSpPr>
        <p:spPr>
          <a:xfrm>
            <a:off x="11433148" y="1969206"/>
            <a:ext cx="110019" cy="11001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8"/>
          <p:cNvSpPr/>
          <p:nvPr/>
        </p:nvSpPr>
        <p:spPr>
          <a:xfrm>
            <a:off x="8314610" y="6188434"/>
            <a:ext cx="51498" cy="5149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8"/>
          <p:cNvSpPr/>
          <p:nvPr/>
        </p:nvSpPr>
        <p:spPr>
          <a:xfrm>
            <a:off x="10260222" y="995388"/>
            <a:ext cx="65394" cy="6539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8"/>
          <p:cNvSpPr/>
          <p:nvPr/>
        </p:nvSpPr>
        <p:spPr>
          <a:xfrm>
            <a:off x="6028960" y="2106285"/>
            <a:ext cx="104513" cy="104513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8"/>
          <p:cNvSpPr/>
          <p:nvPr/>
        </p:nvSpPr>
        <p:spPr>
          <a:xfrm>
            <a:off x="7068513" y="1683881"/>
            <a:ext cx="113513" cy="11351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8"/>
          <p:cNvSpPr/>
          <p:nvPr/>
        </p:nvSpPr>
        <p:spPr>
          <a:xfrm>
            <a:off x="3389980" y="4295407"/>
            <a:ext cx="136073" cy="136073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8"/>
          <p:cNvSpPr/>
          <p:nvPr/>
        </p:nvSpPr>
        <p:spPr>
          <a:xfrm>
            <a:off x="10913869" y="697681"/>
            <a:ext cx="46230" cy="46230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8"/>
          <p:cNvSpPr/>
          <p:nvPr/>
        </p:nvSpPr>
        <p:spPr>
          <a:xfrm>
            <a:off x="6449923" y="2919643"/>
            <a:ext cx="57754" cy="57754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8"/>
          <p:cNvSpPr/>
          <p:nvPr/>
        </p:nvSpPr>
        <p:spPr>
          <a:xfrm>
            <a:off x="3026478" y="2002315"/>
            <a:ext cx="59352" cy="5935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8"/>
          <p:cNvSpPr/>
          <p:nvPr/>
        </p:nvSpPr>
        <p:spPr>
          <a:xfrm>
            <a:off x="11743107" y="442202"/>
            <a:ext cx="100627" cy="10062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8"/>
          <p:cNvSpPr/>
          <p:nvPr/>
        </p:nvSpPr>
        <p:spPr>
          <a:xfrm>
            <a:off x="168400" y="5894524"/>
            <a:ext cx="77250" cy="77250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8"/>
          <p:cNvSpPr/>
          <p:nvPr/>
        </p:nvSpPr>
        <p:spPr>
          <a:xfrm>
            <a:off x="3906600" y="3301240"/>
            <a:ext cx="91806" cy="9180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8"/>
          <p:cNvSpPr/>
          <p:nvPr/>
        </p:nvSpPr>
        <p:spPr>
          <a:xfrm>
            <a:off x="8883470" y="3607473"/>
            <a:ext cx="102137" cy="10213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8"/>
          <p:cNvSpPr/>
          <p:nvPr/>
        </p:nvSpPr>
        <p:spPr>
          <a:xfrm>
            <a:off x="7282113" y="1724231"/>
            <a:ext cx="102268" cy="10226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8"/>
          <p:cNvSpPr/>
          <p:nvPr/>
        </p:nvSpPr>
        <p:spPr>
          <a:xfrm>
            <a:off x="3188405" y="3686773"/>
            <a:ext cx="89852" cy="8985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8"/>
          <p:cNvSpPr/>
          <p:nvPr/>
        </p:nvSpPr>
        <p:spPr>
          <a:xfrm>
            <a:off x="552328" y="4021491"/>
            <a:ext cx="87609" cy="8760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8"/>
          <p:cNvSpPr/>
          <p:nvPr/>
        </p:nvSpPr>
        <p:spPr>
          <a:xfrm>
            <a:off x="3956566" y="4094400"/>
            <a:ext cx="104693" cy="10469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8"/>
          <p:cNvSpPr/>
          <p:nvPr/>
        </p:nvSpPr>
        <p:spPr>
          <a:xfrm>
            <a:off x="8634065" y="5672820"/>
            <a:ext cx="80467" cy="80467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8"/>
          <p:cNvSpPr/>
          <p:nvPr/>
        </p:nvSpPr>
        <p:spPr>
          <a:xfrm>
            <a:off x="6821725" y="3680921"/>
            <a:ext cx="63128" cy="63128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8"/>
          <p:cNvSpPr/>
          <p:nvPr/>
        </p:nvSpPr>
        <p:spPr>
          <a:xfrm>
            <a:off x="771416" y="2931795"/>
            <a:ext cx="105679" cy="10567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8"/>
          <p:cNvSpPr/>
          <p:nvPr/>
        </p:nvSpPr>
        <p:spPr>
          <a:xfrm>
            <a:off x="9129413" y="3395622"/>
            <a:ext cx="83068" cy="8306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8"/>
          <p:cNvSpPr/>
          <p:nvPr/>
        </p:nvSpPr>
        <p:spPr>
          <a:xfrm>
            <a:off x="3131482" y="1244208"/>
            <a:ext cx="106503" cy="10650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8"/>
          <p:cNvSpPr/>
          <p:nvPr/>
        </p:nvSpPr>
        <p:spPr>
          <a:xfrm>
            <a:off x="855581" y="2838185"/>
            <a:ext cx="61546" cy="61546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8"/>
          <p:cNvSpPr/>
          <p:nvPr/>
        </p:nvSpPr>
        <p:spPr>
          <a:xfrm>
            <a:off x="1646070" y="5029263"/>
            <a:ext cx="55561" cy="55561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8"/>
          <p:cNvSpPr/>
          <p:nvPr/>
        </p:nvSpPr>
        <p:spPr>
          <a:xfrm>
            <a:off x="6266990" y="6492422"/>
            <a:ext cx="99386" cy="9938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8"/>
          <p:cNvSpPr/>
          <p:nvPr/>
        </p:nvSpPr>
        <p:spPr>
          <a:xfrm>
            <a:off x="1800350" y="2725641"/>
            <a:ext cx="76768" cy="76768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8"/>
          <p:cNvSpPr/>
          <p:nvPr/>
        </p:nvSpPr>
        <p:spPr>
          <a:xfrm>
            <a:off x="11553980" y="4549126"/>
            <a:ext cx="117121" cy="11712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8"/>
          <p:cNvSpPr/>
          <p:nvPr/>
        </p:nvSpPr>
        <p:spPr>
          <a:xfrm>
            <a:off x="3611662" y="983868"/>
            <a:ext cx="76322" cy="7632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8"/>
          <p:cNvSpPr/>
          <p:nvPr/>
        </p:nvSpPr>
        <p:spPr>
          <a:xfrm>
            <a:off x="11093520" y="2541843"/>
            <a:ext cx="117500" cy="11750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8"/>
          <p:cNvSpPr/>
          <p:nvPr/>
        </p:nvSpPr>
        <p:spPr>
          <a:xfrm>
            <a:off x="603335" y="2790017"/>
            <a:ext cx="50000" cy="5000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8"/>
          <p:cNvSpPr/>
          <p:nvPr/>
        </p:nvSpPr>
        <p:spPr>
          <a:xfrm>
            <a:off x="6804174" y="6024417"/>
            <a:ext cx="113305" cy="11330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8"/>
          <p:cNvSpPr/>
          <p:nvPr/>
        </p:nvSpPr>
        <p:spPr>
          <a:xfrm>
            <a:off x="5572676" y="2725711"/>
            <a:ext cx="73600" cy="73600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8"/>
          <p:cNvSpPr/>
          <p:nvPr/>
        </p:nvSpPr>
        <p:spPr>
          <a:xfrm>
            <a:off x="2668027" y="2436431"/>
            <a:ext cx="85920" cy="85920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8"/>
          <p:cNvSpPr/>
          <p:nvPr/>
        </p:nvSpPr>
        <p:spPr>
          <a:xfrm>
            <a:off x="5779389" y="2772040"/>
            <a:ext cx="101286" cy="10128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8"/>
          <p:cNvSpPr/>
          <p:nvPr/>
        </p:nvSpPr>
        <p:spPr>
          <a:xfrm>
            <a:off x="5390721" y="6541213"/>
            <a:ext cx="108830" cy="108830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8"/>
          <p:cNvSpPr/>
          <p:nvPr/>
        </p:nvSpPr>
        <p:spPr>
          <a:xfrm>
            <a:off x="6486000" y="2892511"/>
            <a:ext cx="90849" cy="90849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8"/>
          <p:cNvSpPr/>
          <p:nvPr/>
        </p:nvSpPr>
        <p:spPr>
          <a:xfrm>
            <a:off x="7433573" y="3526269"/>
            <a:ext cx="83183" cy="8318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8"/>
          <p:cNvSpPr/>
          <p:nvPr/>
        </p:nvSpPr>
        <p:spPr>
          <a:xfrm>
            <a:off x="3293479" y="2523404"/>
            <a:ext cx="133103" cy="133103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8"/>
          <p:cNvSpPr/>
          <p:nvPr/>
        </p:nvSpPr>
        <p:spPr>
          <a:xfrm>
            <a:off x="1747974" y="1759396"/>
            <a:ext cx="54442" cy="54442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8"/>
          <p:cNvSpPr/>
          <p:nvPr/>
        </p:nvSpPr>
        <p:spPr>
          <a:xfrm>
            <a:off x="9993332" y="3087971"/>
            <a:ext cx="73618" cy="73618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8"/>
          <p:cNvSpPr/>
          <p:nvPr/>
        </p:nvSpPr>
        <p:spPr>
          <a:xfrm>
            <a:off x="9193076" y="3528795"/>
            <a:ext cx="98369" cy="98369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8"/>
          <p:cNvSpPr/>
          <p:nvPr/>
        </p:nvSpPr>
        <p:spPr>
          <a:xfrm>
            <a:off x="5876188" y="1421624"/>
            <a:ext cx="55057" cy="5505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8"/>
          <p:cNvSpPr/>
          <p:nvPr/>
        </p:nvSpPr>
        <p:spPr>
          <a:xfrm>
            <a:off x="3806462" y="2923494"/>
            <a:ext cx="55669" cy="5566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8"/>
          <p:cNvSpPr/>
          <p:nvPr/>
        </p:nvSpPr>
        <p:spPr>
          <a:xfrm>
            <a:off x="3825044" y="3099142"/>
            <a:ext cx="110102" cy="11010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8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🛠️  </a:t>
            </a:r>
            <a:r>
              <a:rPr lang="en-US" sz="1300" b="1" i="0" u="none" strike="noStrike" cap="non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HOW IT’S BUILT</a:t>
            </a:r>
            <a:endParaRPr/>
          </a:p>
        </p:txBody>
      </p:sp>
      <p:sp>
        <p:nvSpPr>
          <p:cNvPr id="483" name="Google Shape;483;p18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Tech stack</a:t>
            </a:r>
            <a:endParaRPr/>
          </a:p>
        </p:txBody>
      </p:sp>
      <p:sp>
        <p:nvSpPr>
          <p:cNvPr id="484" name="Google Shape;484;p18"/>
          <p:cNvSpPr/>
          <p:nvPr/>
        </p:nvSpPr>
        <p:spPr>
          <a:xfrm>
            <a:off x="822960" y="1901951"/>
            <a:ext cx="512064" cy="512064"/>
          </a:xfrm>
          <a:prstGeom prst="ellipse">
            <a:avLst/>
          </a:prstGeom>
          <a:solidFill>
            <a:srgbClr val="0F1626"/>
          </a:solidFill>
          <a:ln w="2285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8"/>
          <p:cNvSpPr txBox="1"/>
          <p:nvPr/>
        </p:nvSpPr>
        <p:spPr>
          <a:xfrm>
            <a:off x="822960" y="187451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🧠</a:t>
            </a:r>
            <a:endParaRPr/>
          </a:p>
        </p:txBody>
      </p:sp>
      <p:sp>
        <p:nvSpPr>
          <p:cNvPr id="486" name="Google Shape;486;p18"/>
          <p:cNvSpPr txBox="1"/>
          <p:nvPr/>
        </p:nvSpPr>
        <p:spPr>
          <a:xfrm>
            <a:off x="1463040" y="1996420"/>
            <a:ext cx="2286000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6B5E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Screening</a:t>
            </a:r>
            <a:r>
              <a:rPr lang="en-US" sz="1500" b="1" i="0" u="none" strike="noStrike" cap="non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engine</a:t>
            </a:r>
            <a:endParaRPr/>
          </a:p>
        </p:txBody>
      </p:sp>
      <p:sp>
        <p:nvSpPr>
          <p:cNvPr id="487" name="Google Shape;487;p18"/>
          <p:cNvSpPr/>
          <p:nvPr/>
        </p:nvSpPr>
        <p:spPr>
          <a:xfrm>
            <a:off x="3840480" y="1947672"/>
            <a:ext cx="1174089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8"/>
          <p:cNvSpPr txBox="1"/>
          <p:nvPr/>
        </p:nvSpPr>
        <p:spPr>
          <a:xfrm>
            <a:off x="3840480" y="1947672"/>
            <a:ext cx="1174089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🐍 Python</a:t>
            </a:r>
            <a:endParaRPr/>
          </a:p>
        </p:txBody>
      </p:sp>
      <p:sp>
        <p:nvSpPr>
          <p:cNvPr id="489" name="Google Shape;489;p18"/>
          <p:cNvSpPr/>
          <p:nvPr/>
        </p:nvSpPr>
        <p:spPr>
          <a:xfrm>
            <a:off x="5160873" y="1947672"/>
            <a:ext cx="1371600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8"/>
          <p:cNvSpPr txBox="1"/>
          <p:nvPr/>
        </p:nvSpPr>
        <p:spPr>
          <a:xfrm>
            <a:off x="5160873" y="1947672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🌳 LightGBM</a:t>
            </a:r>
            <a:endParaRPr/>
          </a:p>
        </p:txBody>
      </p:sp>
      <p:sp>
        <p:nvSpPr>
          <p:cNvPr id="491" name="Google Shape;491;p18"/>
          <p:cNvSpPr/>
          <p:nvPr/>
        </p:nvSpPr>
        <p:spPr>
          <a:xfrm>
            <a:off x="6678777" y="1947672"/>
            <a:ext cx="1766620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8"/>
          <p:cNvSpPr txBox="1"/>
          <p:nvPr/>
        </p:nvSpPr>
        <p:spPr>
          <a:xfrm>
            <a:off x="6678777" y="1947672"/>
            <a:ext cx="17666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📈 scikit-learn</a:t>
            </a:r>
            <a:endParaRPr/>
          </a:p>
        </p:txBody>
      </p:sp>
      <p:sp>
        <p:nvSpPr>
          <p:cNvPr id="493" name="Google Shape;493;p18"/>
          <p:cNvSpPr/>
          <p:nvPr/>
        </p:nvSpPr>
        <p:spPr>
          <a:xfrm>
            <a:off x="8591702" y="1947672"/>
            <a:ext cx="1470355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8"/>
          <p:cNvSpPr txBox="1"/>
          <p:nvPr/>
        </p:nvSpPr>
        <p:spPr>
          <a:xfrm>
            <a:off x="8591702" y="1947672"/>
            <a:ext cx="147035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🔤 RapidFuzz</a:t>
            </a:r>
            <a:endParaRPr/>
          </a:p>
        </p:txBody>
      </p:sp>
      <p:sp>
        <p:nvSpPr>
          <p:cNvPr id="495" name="Google Shape;495;p18"/>
          <p:cNvSpPr/>
          <p:nvPr/>
        </p:nvSpPr>
        <p:spPr>
          <a:xfrm>
            <a:off x="822960" y="2633471"/>
            <a:ext cx="512064" cy="512064"/>
          </a:xfrm>
          <a:prstGeom prst="ellipse">
            <a:avLst/>
          </a:prstGeom>
          <a:solidFill>
            <a:srgbClr val="0F1626"/>
          </a:solidFill>
          <a:ln w="22850" cap="flat" cmpd="sng">
            <a:solidFill>
              <a:srgbClr val="818C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8"/>
          <p:cNvSpPr txBox="1"/>
          <p:nvPr/>
        </p:nvSpPr>
        <p:spPr>
          <a:xfrm>
            <a:off x="822960" y="260603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⚡</a:t>
            </a:r>
            <a:endParaRPr/>
          </a:p>
        </p:txBody>
      </p:sp>
      <p:sp>
        <p:nvSpPr>
          <p:cNvPr id="497" name="Google Shape;497;p18"/>
          <p:cNvSpPr txBox="1"/>
          <p:nvPr/>
        </p:nvSpPr>
        <p:spPr>
          <a:xfrm>
            <a:off x="1463040" y="260603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Streaming</a:t>
            </a:r>
            <a:endParaRPr/>
          </a:p>
        </p:txBody>
      </p:sp>
      <p:sp>
        <p:nvSpPr>
          <p:cNvPr id="498" name="Google Shape;498;p18"/>
          <p:cNvSpPr/>
          <p:nvPr/>
        </p:nvSpPr>
        <p:spPr>
          <a:xfrm>
            <a:off x="3840480" y="2679191"/>
            <a:ext cx="1766620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8"/>
          <p:cNvSpPr txBox="1"/>
          <p:nvPr/>
        </p:nvSpPr>
        <p:spPr>
          <a:xfrm>
            <a:off x="3840480" y="2679191"/>
            <a:ext cx="17666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🟪 Apache Kafka</a:t>
            </a:r>
            <a:endParaRPr/>
          </a:p>
        </p:txBody>
      </p:sp>
      <p:sp>
        <p:nvSpPr>
          <p:cNvPr id="500" name="Google Shape;500;p18"/>
          <p:cNvSpPr/>
          <p:nvPr/>
        </p:nvSpPr>
        <p:spPr>
          <a:xfrm>
            <a:off x="5753404" y="2679191"/>
            <a:ext cx="1371600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8"/>
          <p:cNvSpPr txBox="1"/>
          <p:nvPr/>
        </p:nvSpPr>
        <p:spPr>
          <a:xfrm>
            <a:off x="5753404" y="2679191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🔁 aiokafka</a:t>
            </a:r>
            <a:endParaRPr/>
          </a:p>
        </p:txBody>
      </p:sp>
      <p:sp>
        <p:nvSpPr>
          <p:cNvPr id="502" name="Google Shape;502;p18"/>
          <p:cNvSpPr/>
          <p:nvPr/>
        </p:nvSpPr>
        <p:spPr>
          <a:xfrm>
            <a:off x="7271308" y="2679191"/>
            <a:ext cx="1964131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8"/>
          <p:cNvSpPr txBox="1"/>
          <p:nvPr/>
        </p:nvSpPr>
        <p:spPr>
          <a:xfrm>
            <a:off x="7271308" y="2679191"/>
            <a:ext cx="1964131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🧩 scatter-gather</a:t>
            </a:r>
            <a:endParaRPr/>
          </a:p>
        </p:txBody>
      </p:sp>
      <p:sp>
        <p:nvSpPr>
          <p:cNvPr id="504" name="Google Shape;504;p18"/>
          <p:cNvSpPr/>
          <p:nvPr/>
        </p:nvSpPr>
        <p:spPr>
          <a:xfrm>
            <a:off x="822960" y="3364991"/>
            <a:ext cx="512064" cy="512064"/>
          </a:xfrm>
          <a:prstGeom prst="ellipse">
            <a:avLst/>
          </a:prstGeom>
          <a:solidFill>
            <a:srgbClr val="0F1626"/>
          </a:solidFill>
          <a:ln w="22850" cap="flat" cmpd="sng">
            <a:solidFill>
              <a:srgbClr val="F5C3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8"/>
          <p:cNvSpPr txBox="1"/>
          <p:nvPr/>
        </p:nvSpPr>
        <p:spPr>
          <a:xfrm>
            <a:off x="822960" y="333755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🗄️</a:t>
            </a:r>
            <a:endParaRPr/>
          </a:p>
        </p:txBody>
      </p:sp>
      <p:sp>
        <p:nvSpPr>
          <p:cNvPr id="506" name="Google Shape;506;p18"/>
          <p:cNvSpPr txBox="1"/>
          <p:nvPr/>
        </p:nvSpPr>
        <p:spPr>
          <a:xfrm>
            <a:off x="1463040" y="333755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5C32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&amp; API</a:t>
            </a:r>
            <a:endParaRPr/>
          </a:p>
        </p:txBody>
      </p:sp>
      <p:sp>
        <p:nvSpPr>
          <p:cNvPr id="507" name="Google Shape;507;p18"/>
          <p:cNvSpPr/>
          <p:nvPr/>
        </p:nvSpPr>
        <p:spPr>
          <a:xfrm>
            <a:off x="3840480" y="3410711"/>
            <a:ext cx="1569110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8"/>
          <p:cNvSpPr txBox="1"/>
          <p:nvPr/>
        </p:nvSpPr>
        <p:spPr>
          <a:xfrm>
            <a:off x="3840480" y="3410711"/>
            <a:ext cx="156911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🐘 PostgreSQL</a:t>
            </a:r>
            <a:endParaRPr/>
          </a:p>
        </p:txBody>
      </p:sp>
      <p:sp>
        <p:nvSpPr>
          <p:cNvPr id="509" name="Google Shape;509;p18"/>
          <p:cNvSpPr/>
          <p:nvPr/>
        </p:nvSpPr>
        <p:spPr>
          <a:xfrm>
            <a:off x="5555894" y="3410711"/>
            <a:ext cx="1272844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8"/>
          <p:cNvSpPr txBox="1"/>
          <p:nvPr/>
        </p:nvSpPr>
        <p:spPr>
          <a:xfrm>
            <a:off x="5555894" y="3410711"/>
            <a:ext cx="12728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🚀 FastAPI</a:t>
            </a:r>
            <a:endParaRPr/>
          </a:p>
        </p:txBody>
      </p:sp>
      <p:sp>
        <p:nvSpPr>
          <p:cNvPr id="511" name="Google Shape;511;p18"/>
          <p:cNvSpPr/>
          <p:nvPr/>
        </p:nvSpPr>
        <p:spPr>
          <a:xfrm>
            <a:off x="6975043" y="3410711"/>
            <a:ext cx="877824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8"/>
          <p:cNvSpPr txBox="1"/>
          <p:nvPr/>
        </p:nvSpPr>
        <p:spPr>
          <a:xfrm>
            <a:off x="6975043" y="3410711"/>
            <a:ext cx="87782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🔐 JWT</a:t>
            </a:r>
            <a:endParaRPr/>
          </a:p>
        </p:txBody>
      </p:sp>
      <p:sp>
        <p:nvSpPr>
          <p:cNvPr id="513" name="Google Shape;513;p18"/>
          <p:cNvSpPr/>
          <p:nvPr/>
        </p:nvSpPr>
        <p:spPr>
          <a:xfrm>
            <a:off x="7999171" y="3410711"/>
            <a:ext cx="1470355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8"/>
          <p:cNvSpPr txBox="1"/>
          <p:nvPr/>
        </p:nvSpPr>
        <p:spPr>
          <a:xfrm>
            <a:off x="7999171" y="3410711"/>
            <a:ext cx="147035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🔌 WebSocket</a:t>
            </a:r>
            <a:endParaRPr/>
          </a:p>
        </p:txBody>
      </p:sp>
      <p:sp>
        <p:nvSpPr>
          <p:cNvPr id="515" name="Google Shape;515;p18"/>
          <p:cNvSpPr/>
          <p:nvPr/>
        </p:nvSpPr>
        <p:spPr>
          <a:xfrm>
            <a:off x="822960" y="4096511"/>
            <a:ext cx="512064" cy="512064"/>
          </a:xfrm>
          <a:prstGeom prst="ellipse">
            <a:avLst/>
          </a:prstGeom>
          <a:solidFill>
            <a:srgbClr val="0F1626"/>
          </a:solidFill>
          <a:ln w="22850" cap="flat" cmpd="sng">
            <a:solidFill>
              <a:srgbClr val="C084F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8"/>
          <p:cNvSpPr txBox="1"/>
          <p:nvPr/>
        </p:nvSpPr>
        <p:spPr>
          <a:xfrm>
            <a:off x="822960" y="406907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🤖</a:t>
            </a:r>
            <a:endParaRPr/>
          </a:p>
        </p:txBody>
      </p:sp>
      <p:sp>
        <p:nvSpPr>
          <p:cNvPr id="517" name="Google Shape;517;p18"/>
          <p:cNvSpPr txBox="1"/>
          <p:nvPr/>
        </p:nvSpPr>
        <p:spPr>
          <a:xfrm>
            <a:off x="1463040" y="406907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084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AI assistant</a:t>
            </a:r>
            <a:endParaRPr/>
          </a:p>
        </p:txBody>
      </p:sp>
      <p:sp>
        <p:nvSpPr>
          <p:cNvPr id="518" name="Google Shape;518;p18"/>
          <p:cNvSpPr/>
          <p:nvPr/>
        </p:nvSpPr>
        <p:spPr>
          <a:xfrm>
            <a:off x="3840480" y="4142231"/>
            <a:ext cx="1174089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8"/>
          <p:cNvSpPr txBox="1"/>
          <p:nvPr/>
        </p:nvSpPr>
        <p:spPr>
          <a:xfrm>
            <a:off x="3840480" y="4142231"/>
            <a:ext cx="1174089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🦙 Ollama</a:t>
            </a:r>
            <a:endParaRPr/>
          </a:p>
        </p:txBody>
      </p:sp>
      <p:sp>
        <p:nvSpPr>
          <p:cNvPr id="520" name="Google Shape;520;p18"/>
          <p:cNvSpPr/>
          <p:nvPr/>
        </p:nvSpPr>
        <p:spPr>
          <a:xfrm>
            <a:off x="5160873" y="4142231"/>
            <a:ext cx="1371600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18"/>
          <p:cNvSpPr txBox="1"/>
          <p:nvPr/>
        </p:nvSpPr>
        <p:spPr>
          <a:xfrm>
            <a:off x="5160873" y="4142231"/>
            <a:ext cx="1371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💬 llama3.2</a:t>
            </a:r>
            <a:endParaRPr/>
          </a:p>
        </p:txBody>
      </p:sp>
      <p:sp>
        <p:nvSpPr>
          <p:cNvPr id="522" name="Google Shape;522;p18"/>
          <p:cNvSpPr/>
          <p:nvPr/>
        </p:nvSpPr>
        <p:spPr>
          <a:xfrm>
            <a:off x="6678777" y="4142231"/>
            <a:ext cx="1470355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6678777" y="4142231"/>
            <a:ext cx="147035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🧩 LangGraph</a:t>
            </a:r>
            <a:endParaRPr/>
          </a:p>
        </p:txBody>
      </p:sp>
      <p:sp>
        <p:nvSpPr>
          <p:cNvPr id="524" name="Google Shape;524;p18"/>
          <p:cNvSpPr/>
          <p:nvPr/>
        </p:nvSpPr>
        <p:spPr>
          <a:xfrm>
            <a:off x="8295436" y="4142231"/>
            <a:ext cx="877824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8"/>
          <p:cNvSpPr txBox="1"/>
          <p:nvPr/>
        </p:nvSpPr>
        <p:spPr>
          <a:xfrm>
            <a:off x="8295436" y="4142231"/>
            <a:ext cx="87782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⚡ GPU</a:t>
            </a:r>
            <a:endParaRPr/>
          </a:p>
        </p:txBody>
      </p:sp>
      <p:sp>
        <p:nvSpPr>
          <p:cNvPr id="526" name="Google Shape;526;p18"/>
          <p:cNvSpPr/>
          <p:nvPr/>
        </p:nvSpPr>
        <p:spPr>
          <a:xfrm>
            <a:off x="822960" y="4828031"/>
            <a:ext cx="512064" cy="512064"/>
          </a:xfrm>
          <a:prstGeom prst="ellipse">
            <a:avLst/>
          </a:prstGeom>
          <a:solidFill>
            <a:srgbClr val="0F1626"/>
          </a:solidFill>
          <a:ln w="22850" cap="flat" cmpd="sng">
            <a:solidFill>
              <a:srgbClr val="28E6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8"/>
          <p:cNvSpPr txBox="1"/>
          <p:nvPr/>
        </p:nvSpPr>
        <p:spPr>
          <a:xfrm>
            <a:off x="822960" y="480059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🖥️</a:t>
            </a:r>
            <a:endParaRPr/>
          </a:p>
        </p:txBody>
      </p:sp>
      <p:sp>
        <p:nvSpPr>
          <p:cNvPr id="528" name="Google Shape;528;p18"/>
          <p:cNvSpPr txBox="1"/>
          <p:nvPr/>
        </p:nvSpPr>
        <p:spPr>
          <a:xfrm>
            <a:off x="1463040" y="480059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Frontend</a:t>
            </a:r>
            <a:endParaRPr/>
          </a:p>
        </p:txBody>
      </p:sp>
      <p:sp>
        <p:nvSpPr>
          <p:cNvPr id="529" name="Google Shape;529;p18"/>
          <p:cNvSpPr/>
          <p:nvPr/>
        </p:nvSpPr>
        <p:spPr>
          <a:xfrm>
            <a:off x="3840480" y="4873751"/>
            <a:ext cx="1174089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8"/>
          <p:cNvSpPr txBox="1"/>
          <p:nvPr/>
        </p:nvSpPr>
        <p:spPr>
          <a:xfrm>
            <a:off x="3840480" y="4873751"/>
            <a:ext cx="1174089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⚛️ React</a:t>
            </a:r>
            <a:endParaRPr/>
          </a:p>
        </p:txBody>
      </p:sp>
      <p:sp>
        <p:nvSpPr>
          <p:cNvPr id="531" name="Google Shape;531;p18"/>
          <p:cNvSpPr/>
          <p:nvPr/>
        </p:nvSpPr>
        <p:spPr>
          <a:xfrm>
            <a:off x="5160873" y="4873751"/>
            <a:ext cx="976579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8"/>
          <p:cNvSpPr txBox="1"/>
          <p:nvPr/>
        </p:nvSpPr>
        <p:spPr>
          <a:xfrm>
            <a:off x="5160873" y="4873751"/>
            <a:ext cx="976579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⚡ Vite</a:t>
            </a:r>
            <a:endParaRPr/>
          </a:p>
        </p:txBody>
      </p:sp>
      <p:sp>
        <p:nvSpPr>
          <p:cNvPr id="533" name="Google Shape;533;p18"/>
          <p:cNvSpPr/>
          <p:nvPr/>
        </p:nvSpPr>
        <p:spPr>
          <a:xfrm>
            <a:off x="6283756" y="4873751"/>
            <a:ext cx="1667865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6283756" y="4873751"/>
            <a:ext cx="166786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🎨 live canvas</a:t>
            </a:r>
            <a:endParaRPr/>
          </a:p>
        </p:txBody>
      </p:sp>
      <p:sp>
        <p:nvSpPr>
          <p:cNvPr id="535" name="Google Shape;535;p18"/>
          <p:cNvSpPr/>
          <p:nvPr/>
        </p:nvSpPr>
        <p:spPr>
          <a:xfrm>
            <a:off x="822960" y="5559551"/>
            <a:ext cx="512064" cy="512064"/>
          </a:xfrm>
          <a:prstGeom prst="ellipse">
            <a:avLst/>
          </a:prstGeom>
          <a:solidFill>
            <a:srgbClr val="0F1626"/>
          </a:solidFill>
          <a:ln w="22850" cap="flat" cmpd="sng">
            <a:solidFill>
              <a:srgbClr val="5EEAD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8"/>
          <p:cNvSpPr txBox="1"/>
          <p:nvPr/>
        </p:nvSpPr>
        <p:spPr>
          <a:xfrm>
            <a:off x="822960" y="5532119"/>
            <a:ext cx="51206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🐳</a:t>
            </a:r>
            <a:endParaRPr/>
          </a:p>
        </p:txBody>
      </p:sp>
      <p:sp>
        <p:nvSpPr>
          <p:cNvPr id="537" name="Google Shape;537;p18"/>
          <p:cNvSpPr txBox="1"/>
          <p:nvPr/>
        </p:nvSpPr>
        <p:spPr>
          <a:xfrm>
            <a:off x="1463040" y="5532119"/>
            <a:ext cx="22860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5EEAD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Infra</a:t>
            </a:r>
            <a:endParaRPr/>
          </a:p>
        </p:txBody>
      </p:sp>
      <p:sp>
        <p:nvSpPr>
          <p:cNvPr id="538" name="Google Shape;538;p18"/>
          <p:cNvSpPr/>
          <p:nvPr/>
        </p:nvSpPr>
        <p:spPr>
          <a:xfrm>
            <a:off x="3840480" y="5605271"/>
            <a:ext cx="1174089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8"/>
          <p:cNvSpPr txBox="1"/>
          <p:nvPr/>
        </p:nvSpPr>
        <p:spPr>
          <a:xfrm>
            <a:off x="3840480" y="5605271"/>
            <a:ext cx="1174089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🐳 Docker</a:t>
            </a:r>
            <a:endParaRPr/>
          </a:p>
        </p:txBody>
      </p:sp>
      <p:sp>
        <p:nvSpPr>
          <p:cNvPr id="540" name="Google Shape;540;p18"/>
          <p:cNvSpPr/>
          <p:nvPr/>
        </p:nvSpPr>
        <p:spPr>
          <a:xfrm>
            <a:off x="5160873" y="5605271"/>
            <a:ext cx="1075334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8"/>
          <p:cNvSpPr txBox="1"/>
          <p:nvPr/>
        </p:nvSpPr>
        <p:spPr>
          <a:xfrm>
            <a:off x="5160873" y="5605271"/>
            <a:ext cx="107533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🌐 nginx</a:t>
            </a:r>
            <a:endParaRPr/>
          </a:p>
        </p:txBody>
      </p:sp>
      <p:sp>
        <p:nvSpPr>
          <p:cNvPr id="542" name="Google Shape;542;p18"/>
          <p:cNvSpPr/>
          <p:nvPr/>
        </p:nvSpPr>
        <p:spPr>
          <a:xfrm>
            <a:off x="6382512" y="5605271"/>
            <a:ext cx="1272844" cy="402336"/>
          </a:xfrm>
          <a:prstGeom prst="roundRect">
            <a:avLst>
              <a:gd name="adj" fmla="val 16667"/>
            </a:avLst>
          </a:prstGeom>
          <a:solidFill>
            <a:srgbClr val="141C2B"/>
          </a:solidFill>
          <a:ln w="12700" cap="flat" cmpd="sng">
            <a:solidFill>
              <a:srgbClr val="2A35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382512" y="5605271"/>
            <a:ext cx="127284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📦 Compose</a:t>
            </a:r>
            <a:endParaRPr/>
          </a:p>
        </p:txBody>
      </p:sp>
      <p:pic>
        <p:nvPicPr>
          <p:cNvPr id="544" name="Google Shape;544;p18" descr="garaza_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p18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lang="en-US" sz="1000" b="0" i="0" u="none" strike="noStrike" cap="non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9"/>
          <p:cNvSpPr/>
          <p:nvPr/>
        </p:nvSpPr>
        <p:spPr>
          <a:xfrm>
            <a:off x="6423118" y="3084391"/>
            <a:ext cx="106233" cy="106233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9"/>
          <p:cNvSpPr/>
          <p:nvPr/>
        </p:nvSpPr>
        <p:spPr>
          <a:xfrm>
            <a:off x="2793187" y="2084754"/>
            <a:ext cx="61502" cy="61502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9"/>
          <p:cNvSpPr/>
          <p:nvPr/>
        </p:nvSpPr>
        <p:spPr>
          <a:xfrm>
            <a:off x="10103653" y="4976502"/>
            <a:ext cx="46551" cy="4655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9"/>
          <p:cNvSpPr/>
          <p:nvPr/>
        </p:nvSpPr>
        <p:spPr>
          <a:xfrm>
            <a:off x="7897118" y="653794"/>
            <a:ext cx="86547" cy="8654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9"/>
          <p:cNvSpPr/>
          <p:nvPr/>
        </p:nvSpPr>
        <p:spPr>
          <a:xfrm>
            <a:off x="7969664" y="6298610"/>
            <a:ext cx="62881" cy="6288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9"/>
          <p:cNvSpPr/>
          <p:nvPr/>
        </p:nvSpPr>
        <p:spPr>
          <a:xfrm>
            <a:off x="1193388" y="2946694"/>
            <a:ext cx="50116" cy="5011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9"/>
          <p:cNvSpPr/>
          <p:nvPr/>
        </p:nvSpPr>
        <p:spPr>
          <a:xfrm>
            <a:off x="11072627" y="2037032"/>
            <a:ext cx="61932" cy="6193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9"/>
          <p:cNvSpPr/>
          <p:nvPr/>
        </p:nvSpPr>
        <p:spPr>
          <a:xfrm>
            <a:off x="2509701" y="5111170"/>
            <a:ext cx="97826" cy="97826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9"/>
          <p:cNvSpPr/>
          <p:nvPr/>
        </p:nvSpPr>
        <p:spPr>
          <a:xfrm>
            <a:off x="8864803" y="5995918"/>
            <a:ext cx="80709" cy="8070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9"/>
          <p:cNvSpPr/>
          <p:nvPr/>
        </p:nvSpPr>
        <p:spPr>
          <a:xfrm>
            <a:off x="8378327" y="3744163"/>
            <a:ext cx="47405" cy="4740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9"/>
          <p:cNvSpPr/>
          <p:nvPr/>
        </p:nvSpPr>
        <p:spPr>
          <a:xfrm>
            <a:off x="1551165" y="6009741"/>
            <a:ext cx="65617" cy="6561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9"/>
          <p:cNvSpPr/>
          <p:nvPr/>
        </p:nvSpPr>
        <p:spPr>
          <a:xfrm>
            <a:off x="5959968" y="3951931"/>
            <a:ext cx="69533" cy="69533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9"/>
          <p:cNvSpPr/>
          <p:nvPr/>
        </p:nvSpPr>
        <p:spPr>
          <a:xfrm>
            <a:off x="986352" y="453267"/>
            <a:ext cx="73025" cy="7302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9"/>
          <p:cNvSpPr/>
          <p:nvPr/>
        </p:nvSpPr>
        <p:spPr>
          <a:xfrm>
            <a:off x="3214476" y="4474159"/>
            <a:ext cx="80046" cy="80046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9"/>
          <p:cNvSpPr/>
          <p:nvPr/>
        </p:nvSpPr>
        <p:spPr>
          <a:xfrm>
            <a:off x="11354425" y="2533115"/>
            <a:ext cx="114657" cy="114657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9"/>
          <p:cNvSpPr/>
          <p:nvPr/>
        </p:nvSpPr>
        <p:spPr>
          <a:xfrm>
            <a:off x="7508431" y="4173921"/>
            <a:ext cx="76119" cy="7611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9"/>
          <p:cNvSpPr/>
          <p:nvPr/>
        </p:nvSpPr>
        <p:spPr>
          <a:xfrm>
            <a:off x="940162" y="3177141"/>
            <a:ext cx="116409" cy="11640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9"/>
          <p:cNvSpPr/>
          <p:nvPr/>
        </p:nvSpPr>
        <p:spPr>
          <a:xfrm>
            <a:off x="585256" y="1091931"/>
            <a:ext cx="68295" cy="68295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9"/>
          <p:cNvSpPr/>
          <p:nvPr/>
        </p:nvSpPr>
        <p:spPr>
          <a:xfrm>
            <a:off x="5695414" y="362697"/>
            <a:ext cx="65455" cy="6545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9"/>
          <p:cNvSpPr/>
          <p:nvPr/>
        </p:nvSpPr>
        <p:spPr>
          <a:xfrm>
            <a:off x="8129238" y="1719188"/>
            <a:ext cx="107960" cy="107960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9"/>
          <p:cNvSpPr/>
          <p:nvPr/>
        </p:nvSpPr>
        <p:spPr>
          <a:xfrm>
            <a:off x="178251" y="3704913"/>
            <a:ext cx="101702" cy="10170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9"/>
          <p:cNvSpPr/>
          <p:nvPr/>
        </p:nvSpPr>
        <p:spPr>
          <a:xfrm>
            <a:off x="7473729" y="3792300"/>
            <a:ext cx="116591" cy="116591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9"/>
          <p:cNvSpPr/>
          <p:nvPr/>
        </p:nvSpPr>
        <p:spPr>
          <a:xfrm>
            <a:off x="3239954" y="888853"/>
            <a:ext cx="124717" cy="124717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9"/>
          <p:cNvSpPr/>
          <p:nvPr/>
        </p:nvSpPr>
        <p:spPr>
          <a:xfrm>
            <a:off x="8307975" y="4591700"/>
            <a:ext cx="106025" cy="10602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9"/>
          <p:cNvSpPr/>
          <p:nvPr/>
        </p:nvSpPr>
        <p:spPr>
          <a:xfrm>
            <a:off x="4050672" y="4608901"/>
            <a:ext cx="67203" cy="67203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9"/>
          <p:cNvSpPr/>
          <p:nvPr/>
        </p:nvSpPr>
        <p:spPr>
          <a:xfrm>
            <a:off x="3494244" y="4988340"/>
            <a:ext cx="63059" cy="63059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9"/>
          <p:cNvSpPr/>
          <p:nvPr/>
        </p:nvSpPr>
        <p:spPr>
          <a:xfrm>
            <a:off x="4393274" y="4716415"/>
            <a:ext cx="99670" cy="99670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9"/>
          <p:cNvSpPr/>
          <p:nvPr/>
        </p:nvSpPr>
        <p:spPr>
          <a:xfrm>
            <a:off x="11759927" y="5426001"/>
            <a:ext cx="68409" cy="6840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9"/>
          <p:cNvSpPr/>
          <p:nvPr/>
        </p:nvSpPr>
        <p:spPr>
          <a:xfrm>
            <a:off x="6157351" y="4545320"/>
            <a:ext cx="112938" cy="112938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9"/>
          <p:cNvSpPr/>
          <p:nvPr/>
        </p:nvSpPr>
        <p:spPr>
          <a:xfrm>
            <a:off x="10357678" y="568225"/>
            <a:ext cx="82840" cy="82840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9"/>
          <p:cNvSpPr/>
          <p:nvPr/>
        </p:nvSpPr>
        <p:spPr>
          <a:xfrm>
            <a:off x="3109258" y="4262661"/>
            <a:ext cx="95671" cy="95671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9"/>
          <p:cNvSpPr/>
          <p:nvPr/>
        </p:nvSpPr>
        <p:spPr>
          <a:xfrm>
            <a:off x="4059788" y="5053757"/>
            <a:ext cx="106329" cy="106329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9"/>
          <p:cNvSpPr/>
          <p:nvPr/>
        </p:nvSpPr>
        <p:spPr>
          <a:xfrm>
            <a:off x="7671861" y="1026589"/>
            <a:ext cx="65393" cy="65393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9"/>
          <p:cNvSpPr/>
          <p:nvPr/>
        </p:nvSpPr>
        <p:spPr>
          <a:xfrm>
            <a:off x="1608498" y="2624152"/>
            <a:ext cx="62621" cy="62621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9"/>
          <p:cNvSpPr/>
          <p:nvPr/>
        </p:nvSpPr>
        <p:spPr>
          <a:xfrm>
            <a:off x="11579504" y="3227148"/>
            <a:ext cx="103565" cy="10356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9"/>
          <p:cNvSpPr/>
          <p:nvPr/>
        </p:nvSpPr>
        <p:spPr>
          <a:xfrm>
            <a:off x="3286427" y="1951493"/>
            <a:ext cx="94422" cy="94422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9"/>
          <p:cNvSpPr/>
          <p:nvPr/>
        </p:nvSpPr>
        <p:spPr>
          <a:xfrm>
            <a:off x="11104385" y="6512548"/>
            <a:ext cx="118806" cy="118806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9"/>
          <p:cNvSpPr/>
          <p:nvPr/>
        </p:nvSpPr>
        <p:spPr>
          <a:xfrm>
            <a:off x="10369272" y="1460222"/>
            <a:ext cx="85110" cy="85110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9"/>
          <p:cNvSpPr/>
          <p:nvPr/>
        </p:nvSpPr>
        <p:spPr>
          <a:xfrm>
            <a:off x="4890935" y="5978247"/>
            <a:ext cx="108305" cy="10830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9"/>
          <p:cNvSpPr/>
          <p:nvPr/>
        </p:nvSpPr>
        <p:spPr>
          <a:xfrm>
            <a:off x="4524987" y="2193594"/>
            <a:ext cx="107071" cy="107071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9"/>
          <p:cNvSpPr/>
          <p:nvPr/>
        </p:nvSpPr>
        <p:spPr>
          <a:xfrm>
            <a:off x="2765313" y="4816161"/>
            <a:ext cx="56107" cy="5610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9"/>
          <p:cNvSpPr/>
          <p:nvPr/>
        </p:nvSpPr>
        <p:spPr>
          <a:xfrm>
            <a:off x="8067939" y="1605063"/>
            <a:ext cx="109118" cy="10911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9"/>
          <p:cNvSpPr/>
          <p:nvPr/>
        </p:nvSpPr>
        <p:spPr>
          <a:xfrm>
            <a:off x="2194397" y="909337"/>
            <a:ext cx="64108" cy="6410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9"/>
          <p:cNvSpPr/>
          <p:nvPr/>
        </p:nvSpPr>
        <p:spPr>
          <a:xfrm>
            <a:off x="5220493" y="1193682"/>
            <a:ext cx="65485" cy="65485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9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🕸️  </a:t>
            </a:r>
            <a:r>
              <a:rPr lang="en-US" sz="1300" b="1" i="0" u="none" strike="noStrike" cap="none">
                <a:solidFill>
                  <a:srgbClr val="818C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ARCHITECTURE</a:t>
            </a:r>
            <a:endParaRPr/>
          </a:p>
        </p:txBody>
      </p:sp>
      <p:sp>
        <p:nvSpPr>
          <p:cNvPr id="596" name="Google Shape;596;p19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Scatter-gather over Kafka</a:t>
            </a:r>
            <a:endParaRPr/>
          </a:p>
        </p:txBody>
      </p:sp>
      <p:pic>
        <p:nvPicPr>
          <p:cNvPr id="597" name="Google Shape;597;p19" descr="architectur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59349" y="1783080"/>
            <a:ext cx="7879080" cy="4297680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p19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Two engines screen every payment in parallel — name/identity + network exposure; the accumulator escalates to the worst verdict, and a local LLM explains it.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20"/>
          <p:cNvSpPr/>
          <p:nvPr/>
        </p:nvSpPr>
        <p:spPr>
          <a:xfrm>
            <a:off x="3354012" y="2771571"/>
            <a:ext cx="51645" cy="51645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20"/>
          <p:cNvSpPr/>
          <p:nvPr/>
        </p:nvSpPr>
        <p:spPr>
          <a:xfrm>
            <a:off x="4435849" y="1878281"/>
            <a:ext cx="77272" cy="77272"/>
          </a:xfrm>
          <a:prstGeom prst="ellipse">
            <a:avLst/>
          </a:prstGeom>
          <a:solidFill>
            <a:srgbClr val="F748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0"/>
          <p:cNvSpPr/>
          <p:nvPr/>
        </p:nvSpPr>
        <p:spPr>
          <a:xfrm>
            <a:off x="8012678" y="254138"/>
            <a:ext cx="55941" cy="55941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0"/>
          <p:cNvSpPr/>
          <p:nvPr/>
        </p:nvSpPr>
        <p:spPr>
          <a:xfrm>
            <a:off x="11788978" y="2825048"/>
            <a:ext cx="95644" cy="956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0"/>
          <p:cNvSpPr/>
          <p:nvPr/>
        </p:nvSpPr>
        <p:spPr>
          <a:xfrm>
            <a:off x="4789447" y="594933"/>
            <a:ext cx="93772" cy="9377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20"/>
          <p:cNvSpPr/>
          <p:nvPr/>
        </p:nvSpPr>
        <p:spPr>
          <a:xfrm>
            <a:off x="3393179" y="6195262"/>
            <a:ext cx="118454" cy="11845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20"/>
          <p:cNvSpPr/>
          <p:nvPr/>
        </p:nvSpPr>
        <p:spPr>
          <a:xfrm>
            <a:off x="6849425" y="6207452"/>
            <a:ext cx="128024" cy="128024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20"/>
          <p:cNvSpPr/>
          <p:nvPr/>
        </p:nvSpPr>
        <p:spPr>
          <a:xfrm>
            <a:off x="6470529" y="4517231"/>
            <a:ext cx="47475" cy="4747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20"/>
          <p:cNvSpPr/>
          <p:nvPr/>
        </p:nvSpPr>
        <p:spPr>
          <a:xfrm>
            <a:off x="876817" y="3189052"/>
            <a:ext cx="50380" cy="50380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0"/>
          <p:cNvSpPr/>
          <p:nvPr/>
        </p:nvSpPr>
        <p:spPr>
          <a:xfrm>
            <a:off x="266744" y="3579331"/>
            <a:ext cx="103677" cy="103677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0"/>
          <p:cNvSpPr/>
          <p:nvPr/>
        </p:nvSpPr>
        <p:spPr>
          <a:xfrm>
            <a:off x="4828606" y="5332234"/>
            <a:ext cx="101879" cy="101879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0"/>
          <p:cNvSpPr/>
          <p:nvPr/>
        </p:nvSpPr>
        <p:spPr>
          <a:xfrm>
            <a:off x="11136813" y="3292280"/>
            <a:ext cx="75605" cy="75605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0"/>
          <p:cNvSpPr/>
          <p:nvPr/>
        </p:nvSpPr>
        <p:spPr>
          <a:xfrm>
            <a:off x="248625" y="1123279"/>
            <a:ext cx="98705" cy="98705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0"/>
          <p:cNvSpPr/>
          <p:nvPr/>
        </p:nvSpPr>
        <p:spPr>
          <a:xfrm>
            <a:off x="9663595" y="2546180"/>
            <a:ext cx="71619" cy="71619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20"/>
          <p:cNvSpPr/>
          <p:nvPr/>
        </p:nvSpPr>
        <p:spPr>
          <a:xfrm>
            <a:off x="920549" y="4380509"/>
            <a:ext cx="65078" cy="6507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20"/>
          <p:cNvSpPr/>
          <p:nvPr/>
        </p:nvSpPr>
        <p:spPr>
          <a:xfrm>
            <a:off x="8851377" y="1571675"/>
            <a:ext cx="85678" cy="8567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20"/>
          <p:cNvSpPr/>
          <p:nvPr/>
        </p:nvSpPr>
        <p:spPr>
          <a:xfrm>
            <a:off x="2220375" y="901113"/>
            <a:ext cx="95576" cy="95576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20"/>
          <p:cNvSpPr/>
          <p:nvPr/>
        </p:nvSpPr>
        <p:spPr>
          <a:xfrm>
            <a:off x="395567" y="2768891"/>
            <a:ext cx="79215" cy="79215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0"/>
          <p:cNvSpPr/>
          <p:nvPr/>
        </p:nvSpPr>
        <p:spPr>
          <a:xfrm>
            <a:off x="10005563" y="5067938"/>
            <a:ext cx="84325" cy="84325"/>
          </a:xfrm>
          <a:prstGeom prst="ellipse">
            <a:avLst/>
          </a:prstGeom>
          <a:solidFill>
            <a:srgbClr val="28E68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0"/>
          <p:cNvSpPr/>
          <p:nvPr/>
        </p:nvSpPr>
        <p:spPr>
          <a:xfrm>
            <a:off x="8998259" y="917226"/>
            <a:ext cx="77183" cy="7718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20"/>
          <p:cNvSpPr/>
          <p:nvPr/>
        </p:nvSpPr>
        <p:spPr>
          <a:xfrm>
            <a:off x="6003859" y="5188204"/>
            <a:ext cx="105162" cy="10516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20"/>
          <p:cNvSpPr/>
          <p:nvPr/>
        </p:nvSpPr>
        <p:spPr>
          <a:xfrm>
            <a:off x="8094466" y="6251225"/>
            <a:ext cx="59139" cy="59139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20"/>
          <p:cNvSpPr/>
          <p:nvPr/>
        </p:nvSpPr>
        <p:spPr>
          <a:xfrm>
            <a:off x="6306960" y="292651"/>
            <a:ext cx="94182" cy="94182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20"/>
          <p:cNvSpPr/>
          <p:nvPr/>
        </p:nvSpPr>
        <p:spPr>
          <a:xfrm>
            <a:off x="2631560" y="4145049"/>
            <a:ext cx="108364" cy="108364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0"/>
          <p:cNvSpPr/>
          <p:nvPr/>
        </p:nvSpPr>
        <p:spPr>
          <a:xfrm>
            <a:off x="6069166" y="3836603"/>
            <a:ext cx="126757" cy="126757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20"/>
          <p:cNvSpPr/>
          <p:nvPr/>
        </p:nvSpPr>
        <p:spPr>
          <a:xfrm>
            <a:off x="5262283" y="3197973"/>
            <a:ext cx="82406" cy="8240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20"/>
          <p:cNvSpPr/>
          <p:nvPr/>
        </p:nvSpPr>
        <p:spPr>
          <a:xfrm>
            <a:off x="7195003" y="3868552"/>
            <a:ext cx="48076" cy="48076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0"/>
          <p:cNvSpPr/>
          <p:nvPr/>
        </p:nvSpPr>
        <p:spPr>
          <a:xfrm>
            <a:off x="5387252" y="3999483"/>
            <a:ext cx="113869" cy="113869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0"/>
          <p:cNvSpPr/>
          <p:nvPr/>
        </p:nvSpPr>
        <p:spPr>
          <a:xfrm>
            <a:off x="6446596" y="2313946"/>
            <a:ext cx="91283" cy="91283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20"/>
          <p:cNvSpPr/>
          <p:nvPr/>
        </p:nvSpPr>
        <p:spPr>
          <a:xfrm>
            <a:off x="8794006" y="6516428"/>
            <a:ext cx="109177" cy="109177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20"/>
          <p:cNvSpPr/>
          <p:nvPr/>
        </p:nvSpPr>
        <p:spPr>
          <a:xfrm>
            <a:off x="8983167" y="5931336"/>
            <a:ext cx="85116" cy="85116"/>
          </a:xfrm>
          <a:prstGeom prst="ellipse">
            <a:avLst/>
          </a:prstGeom>
          <a:solidFill>
            <a:srgbClr val="F5C32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0"/>
          <p:cNvSpPr/>
          <p:nvPr/>
        </p:nvSpPr>
        <p:spPr>
          <a:xfrm>
            <a:off x="9881248" y="5297883"/>
            <a:ext cx="118410" cy="118410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0"/>
          <p:cNvSpPr/>
          <p:nvPr/>
        </p:nvSpPr>
        <p:spPr>
          <a:xfrm>
            <a:off x="2309863" y="471839"/>
            <a:ext cx="83587" cy="83587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20"/>
          <p:cNvSpPr/>
          <p:nvPr/>
        </p:nvSpPr>
        <p:spPr>
          <a:xfrm>
            <a:off x="5472449" y="3636954"/>
            <a:ext cx="60057" cy="60057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0"/>
          <p:cNvSpPr/>
          <p:nvPr/>
        </p:nvSpPr>
        <p:spPr>
          <a:xfrm>
            <a:off x="11437569" y="1744486"/>
            <a:ext cx="101346" cy="101346"/>
          </a:xfrm>
          <a:prstGeom prst="ellipse">
            <a:avLst/>
          </a:prstGeom>
          <a:solidFill>
            <a:srgbClr val="5EEA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20"/>
          <p:cNvSpPr/>
          <p:nvPr/>
        </p:nvSpPr>
        <p:spPr>
          <a:xfrm>
            <a:off x="10439506" y="687182"/>
            <a:ext cx="49812" cy="49812"/>
          </a:xfrm>
          <a:prstGeom prst="ellipse">
            <a:avLst/>
          </a:prstGeom>
          <a:solidFill>
            <a:srgbClr val="1640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0"/>
          <p:cNvSpPr/>
          <p:nvPr/>
        </p:nvSpPr>
        <p:spPr>
          <a:xfrm>
            <a:off x="9499132" y="1193105"/>
            <a:ext cx="53059" cy="53059"/>
          </a:xfrm>
          <a:prstGeom prst="ellipse">
            <a:avLst/>
          </a:prstGeom>
          <a:solidFill>
            <a:srgbClr val="173A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20"/>
          <p:cNvSpPr/>
          <p:nvPr/>
        </p:nvSpPr>
        <p:spPr>
          <a:xfrm>
            <a:off x="11051223" y="6299346"/>
            <a:ext cx="66825" cy="66825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0"/>
          <p:cNvSpPr/>
          <p:nvPr/>
        </p:nvSpPr>
        <p:spPr>
          <a:xfrm>
            <a:off x="2272183" y="2698391"/>
            <a:ext cx="90858" cy="90858"/>
          </a:xfrm>
          <a:prstGeom prst="ellipse">
            <a:avLst/>
          </a:prstGeom>
          <a:solidFill>
            <a:srgbClr val="1D27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981807" y="6506546"/>
            <a:ext cx="91747" cy="91747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0"/>
          <p:cNvSpPr/>
          <p:nvPr/>
        </p:nvSpPr>
        <p:spPr>
          <a:xfrm>
            <a:off x="6716825" y="6548024"/>
            <a:ext cx="105451" cy="105451"/>
          </a:xfrm>
          <a:prstGeom prst="ellipse">
            <a:avLst/>
          </a:prstGeom>
          <a:solidFill>
            <a:srgbClr val="26224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0"/>
          <p:cNvSpPr/>
          <p:nvPr/>
        </p:nvSpPr>
        <p:spPr>
          <a:xfrm>
            <a:off x="10061855" y="6240067"/>
            <a:ext cx="60978" cy="60978"/>
          </a:xfrm>
          <a:prstGeom prst="ellipse">
            <a:avLst/>
          </a:prstGeom>
          <a:solidFill>
            <a:srgbClr val="3E331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20"/>
          <p:cNvSpPr/>
          <p:nvPr/>
        </p:nvSpPr>
        <p:spPr>
          <a:xfrm>
            <a:off x="2260080" y="1042237"/>
            <a:ext cx="79842" cy="79842"/>
          </a:xfrm>
          <a:prstGeom prst="ellipse">
            <a:avLst/>
          </a:prstGeom>
          <a:solidFill>
            <a:srgbClr val="15304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20"/>
          <p:cNvSpPr/>
          <p:nvPr/>
        </p:nvSpPr>
        <p:spPr>
          <a:xfrm>
            <a:off x="3406421" y="1871970"/>
            <a:ext cx="91282" cy="91282"/>
          </a:xfrm>
          <a:prstGeom prst="ellipse">
            <a:avLst/>
          </a:prstGeom>
          <a:solidFill>
            <a:srgbClr val="3E1C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20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🚀  </a:t>
            </a:r>
            <a:r>
              <a:rPr lang="en-US" sz="1300" b="1" i="0" u="none" strike="noStrike" cap="non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LET’S SCREEN SOME PAYMENTS</a:t>
            </a:r>
            <a:endParaRPr/>
          </a:p>
        </p:txBody>
      </p:sp>
      <p:sp>
        <p:nvSpPr>
          <p:cNvPr id="649" name="Google Shape;649;p20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u="none" strike="noStrike" cap="non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Demo time</a:t>
            </a:r>
            <a:endParaRPr/>
          </a:p>
        </p:txBody>
      </p:sp>
      <p:pic>
        <p:nvPicPr>
          <p:cNvPr id="650" name="Google Shape;650;p20" descr="front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277" y="1471013"/>
            <a:ext cx="9692642" cy="4603499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20"/>
          <p:cNvSpPr txBox="1"/>
          <p:nvPr/>
        </p:nvSpPr>
        <p:spPr>
          <a:xfrm>
            <a:off x="0" y="6126480"/>
            <a:ext cx="1219169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28E6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🟢 live feed   </a:t>
            </a:r>
            <a:r>
              <a:rPr lang="en-US" sz="1300" b="0" i="0" u="none" strike="noStrike" cap="none">
                <a:solidFill>
                  <a:srgbClr val="8B95A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· click any dot · analyst review desk · network-exposure drill-down</a:t>
            </a:r>
            <a:endParaRPr/>
          </a:p>
        </p:txBody>
      </p:sp>
      <p:pic>
        <p:nvPicPr>
          <p:cNvPr id="652" name="Google Shape;652;p20" descr="garaza_logo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469880" y="6355080"/>
            <a:ext cx="118375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20"/>
          <p:cNvSpPr txBox="1"/>
          <p:nvPr/>
        </p:nvSpPr>
        <p:spPr>
          <a:xfrm>
            <a:off x="640080" y="6364224"/>
            <a:ext cx="6400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8ED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ScreenSmart</a:t>
            </a:r>
            <a:r>
              <a:rPr lang="en-US" sz="1000" b="0" i="0" u="none" strike="noStrike" cap="none">
                <a:solidFill>
                  <a:srgbClr val="5B647A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 ·  ctrl alt elite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435</Words>
  <Application>Microsoft Office PowerPoint</Application>
  <PresentationFormat>Widescreen</PresentationFormat>
  <Paragraphs>95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Quattrocento Sans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Andrija Milikic</cp:lastModifiedBy>
  <cp:revision>5</cp:revision>
  <dcterms:modified xsi:type="dcterms:W3CDTF">2026-06-14T12:41:51Z</dcterms:modified>
</cp:coreProperties>
</file>