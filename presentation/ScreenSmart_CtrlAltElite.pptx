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1675"/>
  <p:notesSz cx="6858000" cy="9144000"/>
  <p:embeddedFontLst>
    <p:embeddedFont>
      <p:font typeface="Quattrocento Sa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attrocentoSans-bold.fntdata"/><Relationship Id="rId14" Type="http://schemas.openxmlformats.org/officeDocument/2006/relationships/font" Target="fonts/QuattrocentoSans-regular.fntdata"/><Relationship Id="rId17" Type="http://schemas.openxmlformats.org/officeDocument/2006/relationships/font" Target="fonts/QuattrocentoSans-boldItalic.fntdata"/><Relationship Id="rId16" Type="http://schemas.openxmlformats.org/officeDocument/2006/relationships/font" Target="fonts/Quattrocento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452637" y="3785998"/>
            <a:ext cx="79783" cy="7978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2306926" y="3481820"/>
            <a:ext cx="103727" cy="103727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5384647" y="1129719"/>
            <a:ext cx="110853" cy="110853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33562" y="2746228"/>
            <a:ext cx="99773" cy="99773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458944" y="5514130"/>
            <a:ext cx="75434" cy="75434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7182696" y="5173541"/>
            <a:ext cx="88949" cy="88949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236889" y="4297705"/>
            <a:ext cx="94179" cy="9417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7831105" y="2813711"/>
            <a:ext cx="113874" cy="113874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8453951" y="2232211"/>
            <a:ext cx="66863" cy="66863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6754104" y="914484"/>
            <a:ext cx="91772" cy="91772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11394196" y="5613321"/>
            <a:ext cx="86575" cy="86575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5659529" y="6458859"/>
            <a:ext cx="51062" cy="51062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9284693" y="1943045"/>
            <a:ext cx="94440" cy="9444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044166" y="978446"/>
            <a:ext cx="53111" cy="53111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5600221" y="3322400"/>
            <a:ext cx="59500" cy="5950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11714255" y="5118973"/>
            <a:ext cx="73792" cy="73792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5081055" y="1581378"/>
            <a:ext cx="116745" cy="116745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11862568" y="353354"/>
            <a:ext cx="118567" cy="118567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631928" y="1158720"/>
            <a:ext cx="46420" cy="4642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9893094" y="2682740"/>
            <a:ext cx="86512" cy="86512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319392" y="2571560"/>
            <a:ext cx="55026" cy="5502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9917414" y="1091225"/>
            <a:ext cx="91604" cy="91604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/>
          <p:nvPr/>
        </p:nvSpPr>
        <p:spPr>
          <a:xfrm>
            <a:off x="10811175" y="5425796"/>
            <a:ext cx="59604" cy="59604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3"/>
          <p:cNvSpPr/>
          <p:nvPr/>
        </p:nvSpPr>
        <p:spPr>
          <a:xfrm>
            <a:off x="8209132" y="2695705"/>
            <a:ext cx="51462" cy="51462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357280" y="474519"/>
            <a:ext cx="63159" cy="6315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/>
          <p:nvPr/>
        </p:nvSpPr>
        <p:spPr>
          <a:xfrm>
            <a:off x="3156701" y="5463392"/>
            <a:ext cx="67185" cy="6718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/>
          <p:nvPr/>
        </p:nvSpPr>
        <p:spPr>
          <a:xfrm>
            <a:off x="11055722" y="6438645"/>
            <a:ext cx="103831" cy="10383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/>
          <p:nvPr/>
        </p:nvSpPr>
        <p:spPr>
          <a:xfrm>
            <a:off x="7355245" y="2009416"/>
            <a:ext cx="60641" cy="60641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949726" y="2843248"/>
            <a:ext cx="49128" cy="49128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4470402" y="3864782"/>
            <a:ext cx="96332" cy="96332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11657996" y="4403455"/>
            <a:ext cx="88472" cy="88472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7068222" y="6098071"/>
            <a:ext cx="71869" cy="7186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11449757" y="363703"/>
            <a:ext cx="80996" cy="80996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3884300" y="6579597"/>
            <a:ext cx="108106" cy="108106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10714497" y="4912854"/>
            <a:ext cx="103749" cy="103749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4271224" y="4582757"/>
            <a:ext cx="109442" cy="109442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1232010" y="420966"/>
            <a:ext cx="46783" cy="4678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92498" y="307702"/>
            <a:ext cx="78954" cy="78954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11808735" y="5819747"/>
            <a:ext cx="74134" cy="74134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5313316" y="5556508"/>
            <a:ext cx="121171" cy="121171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3782433" y="786145"/>
            <a:ext cx="134432" cy="134432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5979874" y="4133817"/>
            <a:ext cx="64434" cy="64434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4460603" y="1138776"/>
            <a:ext cx="83641" cy="83641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/>
          <p:nvPr/>
        </p:nvSpPr>
        <p:spPr>
          <a:xfrm>
            <a:off x="7892068" y="3037116"/>
            <a:ext cx="69637" cy="69637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0" y="1965960"/>
            <a:ext cx="12191695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</a:t>
            </a:r>
            <a:r>
              <a:rPr b="1" i="0" lang="en-US" sz="80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Smart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0" y="3456432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 </a:t>
            </a:r>
            <a:r>
              <a:rPr b="0" i="0" lang="en-US" sz="20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sanctions screening — every payment, sub-second.</a:t>
            </a:r>
            <a:endParaRPr/>
          </a:p>
        </p:txBody>
      </p:sp>
      <p:sp>
        <p:nvSpPr>
          <p:cNvPr id="131" name="Google Shape;131;p13"/>
          <p:cNvSpPr/>
          <p:nvPr/>
        </p:nvSpPr>
        <p:spPr>
          <a:xfrm>
            <a:off x="5184648" y="4160520"/>
            <a:ext cx="1828800" cy="27432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0" y="4370832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  TEAM   </a:t>
            </a:r>
            <a:r>
              <a:rPr b="1" i="0" lang="en-US" sz="1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ctrl alt elite</a:t>
            </a:r>
            <a:endParaRPr/>
          </a:p>
        </p:txBody>
      </p:sp>
      <p:pic>
        <p:nvPicPr>
          <p:cNvPr descr="garaza_logo.png" id="133" name="Google Shape;1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167" y="5806440"/>
            <a:ext cx="1737360" cy="402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0" y="6327648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FinTech AI Hackathon · Belgrade ·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2469610" y="2966973"/>
            <a:ext cx="112597" cy="112597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/>
          <p:nvPr/>
        </p:nvSpPr>
        <p:spPr>
          <a:xfrm>
            <a:off x="4654094" y="3934292"/>
            <a:ext cx="55681" cy="5568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4258429" y="5920545"/>
            <a:ext cx="77257" cy="77257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9794019" y="945639"/>
            <a:ext cx="113439" cy="11343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4632115" y="3533084"/>
            <a:ext cx="98117" cy="9811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3901240" y="5495228"/>
            <a:ext cx="90163" cy="90163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6841520" y="2192512"/>
            <a:ext cx="47118" cy="47118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4898147" y="1435547"/>
            <a:ext cx="65208" cy="65208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9500147" y="6482078"/>
            <a:ext cx="80130" cy="8013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7833941" y="5359595"/>
            <a:ext cx="95792" cy="95792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9817287" y="1855768"/>
            <a:ext cx="100953" cy="100953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2241578" y="1959437"/>
            <a:ext cx="96729" cy="96729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4760991" y="5261392"/>
            <a:ext cx="52099" cy="5209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1663606" y="3110858"/>
            <a:ext cx="112285" cy="112285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6599835" y="4376394"/>
            <a:ext cx="105664" cy="105664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5585744" y="4367807"/>
            <a:ext cx="98531" cy="9853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2643403" y="5948068"/>
            <a:ext cx="117215" cy="117215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3214297" y="4793252"/>
            <a:ext cx="105458" cy="105458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5317766" y="3725812"/>
            <a:ext cx="81377" cy="81377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4"/>
          <p:cNvSpPr/>
          <p:nvPr/>
        </p:nvSpPr>
        <p:spPr>
          <a:xfrm>
            <a:off x="2702129" y="5741942"/>
            <a:ext cx="48287" cy="4828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8204543" y="6049899"/>
            <a:ext cx="118859" cy="11885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11249729" y="3358993"/>
            <a:ext cx="52012" cy="52012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4"/>
          <p:cNvSpPr/>
          <p:nvPr/>
        </p:nvSpPr>
        <p:spPr>
          <a:xfrm>
            <a:off x="5300387" y="3779659"/>
            <a:ext cx="86797" cy="86797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4"/>
          <p:cNvSpPr/>
          <p:nvPr/>
        </p:nvSpPr>
        <p:spPr>
          <a:xfrm>
            <a:off x="6279877" y="5589894"/>
            <a:ext cx="68521" cy="6852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11355916" y="5757963"/>
            <a:ext cx="67991" cy="67991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11516373" y="3560097"/>
            <a:ext cx="60421" cy="6042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6049475" y="4074870"/>
            <a:ext cx="135201" cy="13520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10916101" y="3685742"/>
            <a:ext cx="54639" cy="54639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8256282" y="647401"/>
            <a:ext cx="75988" cy="7598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300432" y="3235579"/>
            <a:ext cx="100910" cy="10091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6305716" y="918848"/>
            <a:ext cx="47871" cy="47871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1658337" y="5181042"/>
            <a:ext cx="85576" cy="85576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276195" y="2033957"/>
            <a:ext cx="63603" cy="6360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1369568" y="4873488"/>
            <a:ext cx="105826" cy="105826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4"/>
          <p:cNvSpPr/>
          <p:nvPr/>
        </p:nvSpPr>
        <p:spPr>
          <a:xfrm>
            <a:off x="8570119" y="4685846"/>
            <a:ext cx="47420" cy="47420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9833055" y="4142022"/>
            <a:ext cx="108911" cy="10891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6360204" y="5638413"/>
            <a:ext cx="108394" cy="108394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10886372" y="4218853"/>
            <a:ext cx="58970" cy="5897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0602246" y="1465839"/>
            <a:ext cx="59951" cy="5995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1710868" y="1749672"/>
            <a:ext cx="64702" cy="6470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4"/>
          <p:cNvSpPr/>
          <p:nvPr/>
        </p:nvSpPr>
        <p:spPr>
          <a:xfrm>
            <a:off x="5246044" y="6209939"/>
            <a:ext cx="97280" cy="9728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4"/>
          <p:cNvSpPr/>
          <p:nvPr/>
        </p:nvSpPr>
        <p:spPr>
          <a:xfrm>
            <a:off x="4869827" y="4583195"/>
            <a:ext cx="86013" cy="86013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4"/>
          <p:cNvSpPr/>
          <p:nvPr/>
        </p:nvSpPr>
        <p:spPr>
          <a:xfrm>
            <a:off x="10845828" y="6382721"/>
            <a:ext cx="105519" cy="105519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6044909" y="4586167"/>
            <a:ext cx="50881" cy="5088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🧭  </a:t>
            </a:r>
            <a:r>
              <a:rPr b="1" i="0" lang="en-US" sz="13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CONTENTS</a:t>
            </a:r>
            <a:endParaRPr/>
          </a:p>
        </p:txBody>
      </p:sp>
      <p:sp>
        <p:nvSpPr>
          <p:cNvPr id="185" name="Google Shape;185;p14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What’s inside</a:t>
            </a:r>
            <a:endParaRPr/>
          </a:p>
        </p:txBody>
      </p:sp>
      <p:sp>
        <p:nvSpPr>
          <p:cNvPr id="186" name="Google Shape;186;p14"/>
          <p:cNvSpPr/>
          <p:nvPr/>
        </p:nvSpPr>
        <p:spPr>
          <a:xfrm>
            <a:off x="822960" y="2057400"/>
            <a:ext cx="10515600" cy="749808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4"/>
          <p:cNvSpPr txBox="1"/>
          <p:nvPr/>
        </p:nvSpPr>
        <p:spPr>
          <a:xfrm>
            <a:off x="1051560" y="21488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/>
          </a:p>
        </p:txBody>
      </p:sp>
      <p:sp>
        <p:nvSpPr>
          <p:cNvPr id="188" name="Google Shape;188;p14"/>
          <p:cNvSpPr txBox="1"/>
          <p:nvPr/>
        </p:nvSpPr>
        <p:spPr>
          <a:xfrm>
            <a:off x="1965960" y="205740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</a:t>
            </a:r>
            <a:endParaRPr/>
          </a:p>
        </p:txBody>
      </p:sp>
      <p:sp>
        <p:nvSpPr>
          <p:cNvPr id="189" name="Google Shape;189;p14"/>
          <p:cNvSpPr txBox="1"/>
          <p:nvPr/>
        </p:nvSpPr>
        <p:spPr>
          <a:xfrm>
            <a:off x="2743200" y="205740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6035040" y="205740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sanctions are easy to dodge</a:t>
            </a:r>
            <a:endParaRPr/>
          </a:p>
        </p:txBody>
      </p:sp>
      <p:sp>
        <p:nvSpPr>
          <p:cNvPr id="191" name="Google Shape;191;p14"/>
          <p:cNvSpPr/>
          <p:nvPr/>
        </p:nvSpPr>
        <p:spPr>
          <a:xfrm>
            <a:off x="822960" y="2926080"/>
            <a:ext cx="10515600" cy="749808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1051560" y="30175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5C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1965960" y="292608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</a:t>
            </a:r>
            <a:endParaRPr/>
          </a:p>
        </p:txBody>
      </p:sp>
      <p:sp>
        <p:nvSpPr>
          <p:cNvPr id="194" name="Google Shape;194;p14"/>
          <p:cNvSpPr txBox="1"/>
          <p:nvPr/>
        </p:nvSpPr>
        <p:spPr>
          <a:xfrm>
            <a:off x="2743200" y="292608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 facts</a:t>
            </a:r>
            <a:endParaRPr/>
          </a:p>
        </p:txBody>
      </p:sp>
      <p:sp>
        <p:nvSpPr>
          <p:cNvPr id="195" name="Google Shape;195;p14"/>
          <p:cNvSpPr txBox="1"/>
          <p:nvPr/>
        </p:nvSpPr>
        <p:spPr>
          <a:xfrm>
            <a:off x="6035040" y="292608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crime, by the numbers</a:t>
            </a:r>
            <a:endParaRPr/>
          </a:p>
        </p:txBody>
      </p:sp>
      <p:sp>
        <p:nvSpPr>
          <p:cNvPr id="196" name="Google Shape;196;p14"/>
          <p:cNvSpPr/>
          <p:nvPr/>
        </p:nvSpPr>
        <p:spPr>
          <a:xfrm>
            <a:off x="822960" y="3794760"/>
            <a:ext cx="10515600" cy="749808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 txBox="1"/>
          <p:nvPr/>
        </p:nvSpPr>
        <p:spPr>
          <a:xfrm>
            <a:off x="1051560" y="38862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/>
          </a:p>
        </p:txBody>
      </p:sp>
      <p:sp>
        <p:nvSpPr>
          <p:cNvPr id="198" name="Google Shape;198;p14"/>
          <p:cNvSpPr txBox="1"/>
          <p:nvPr/>
        </p:nvSpPr>
        <p:spPr>
          <a:xfrm>
            <a:off x="1965960" y="37947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🛠️</a:t>
            </a:r>
            <a:endParaRPr/>
          </a:p>
        </p:txBody>
      </p:sp>
      <p:sp>
        <p:nvSpPr>
          <p:cNvPr id="199" name="Google Shape;199;p14"/>
          <p:cNvSpPr txBox="1"/>
          <p:nvPr/>
        </p:nvSpPr>
        <p:spPr>
          <a:xfrm>
            <a:off x="2743200" y="379476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endParaRPr/>
          </a:p>
        </p:txBody>
      </p:sp>
      <p:sp>
        <p:nvSpPr>
          <p:cNvPr id="200" name="Google Shape;200;p14"/>
          <p:cNvSpPr txBox="1"/>
          <p:nvPr/>
        </p:nvSpPr>
        <p:spPr>
          <a:xfrm>
            <a:off x="6035040" y="379476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built &amp; the tech stack</a:t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822960" y="4663440"/>
            <a:ext cx="10515600" cy="749808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 txBox="1"/>
          <p:nvPr/>
        </p:nvSpPr>
        <p:spPr>
          <a:xfrm>
            <a:off x="1051560" y="475488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/>
          </a:p>
        </p:txBody>
      </p:sp>
      <p:sp>
        <p:nvSpPr>
          <p:cNvPr id="203" name="Google Shape;203;p14"/>
          <p:cNvSpPr txBox="1"/>
          <p:nvPr/>
        </p:nvSpPr>
        <p:spPr>
          <a:xfrm>
            <a:off x="1965960" y="466344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🕸️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2743200" y="466344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6035040" y="466344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streaming scatter-gather over Kafka</a:t>
            </a:r>
            <a:endParaRPr/>
          </a:p>
        </p:txBody>
      </p:sp>
      <p:sp>
        <p:nvSpPr>
          <p:cNvPr id="206" name="Google Shape;206;p14"/>
          <p:cNvSpPr/>
          <p:nvPr/>
        </p:nvSpPr>
        <p:spPr>
          <a:xfrm>
            <a:off x="822960" y="5532120"/>
            <a:ext cx="10515600" cy="749808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 txBox="1"/>
          <p:nvPr/>
        </p:nvSpPr>
        <p:spPr>
          <a:xfrm>
            <a:off x="1051560" y="562356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/>
          </a:p>
        </p:txBody>
      </p:sp>
      <p:sp>
        <p:nvSpPr>
          <p:cNvPr id="208" name="Google Shape;208;p14"/>
          <p:cNvSpPr txBox="1"/>
          <p:nvPr/>
        </p:nvSpPr>
        <p:spPr>
          <a:xfrm>
            <a:off x="1965960" y="553212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2743200" y="5532120"/>
            <a:ext cx="42062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</a:t>
            </a:r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6035040" y="5532120"/>
            <a:ext cx="5120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dashboard in action</a:t>
            </a:r>
            <a:endParaRPr/>
          </a:p>
        </p:txBody>
      </p:sp>
      <p:pic>
        <p:nvPicPr>
          <p:cNvPr descr="garaza_logo.png" id="211" name="Google Shape;21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6355080"/>
            <a:ext cx="118375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4"/>
          <p:cNvSpPr txBox="1"/>
          <p:nvPr/>
        </p:nvSpPr>
        <p:spPr>
          <a:xfrm>
            <a:off x="640080" y="63642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r>
              <a:rPr b="0" i="0" lang="en-US" sz="10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ctrl alt elite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422741" y="5071153"/>
            <a:ext cx="111929" cy="11192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1859185" y="1401342"/>
            <a:ext cx="107183" cy="107183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11028181" y="833898"/>
            <a:ext cx="134055" cy="134055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1049029" y="843224"/>
            <a:ext cx="76915" cy="76915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5190631" y="4047556"/>
            <a:ext cx="118023" cy="118023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5"/>
          <p:cNvSpPr/>
          <p:nvPr/>
        </p:nvSpPr>
        <p:spPr>
          <a:xfrm>
            <a:off x="2267080" y="3113494"/>
            <a:ext cx="75368" cy="7536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5"/>
          <p:cNvSpPr/>
          <p:nvPr/>
        </p:nvSpPr>
        <p:spPr>
          <a:xfrm>
            <a:off x="7244433" y="831072"/>
            <a:ext cx="69399" cy="69399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5"/>
          <p:cNvSpPr/>
          <p:nvPr/>
        </p:nvSpPr>
        <p:spPr>
          <a:xfrm>
            <a:off x="9557239" y="4706844"/>
            <a:ext cx="91760" cy="91760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6830969" y="1442088"/>
            <a:ext cx="70662" cy="70662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3421481" y="967530"/>
            <a:ext cx="57427" cy="5742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1702442" y="2325208"/>
            <a:ext cx="72776" cy="7277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9128632" y="2807145"/>
            <a:ext cx="50880" cy="5088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3682022" y="869593"/>
            <a:ext cx="118182" cy="118182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2864428" y="6232089"/>
            <a:ext cx="70431" cy="7043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6829695" y="3616363"/>
            <a:ext cx="118863" cy="11886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8376883" y="5069516"/>
            <a:ext cx="47389" cy="47389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818029" y="1859526"/>
            <a:ext cx="49411" cy="4941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7751298" y="297109"/>
            <a:ext cx="65887" cy="6588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600359" y="3455833"/>
            <a:ext cx="87268" cy="87268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7633833" y="5373216"/>
            <a:ext cx="111399" cy="111399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4677646" y="6193498"/>
            <a:ext cx="116682" cy="116682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6505137" y="4019800"/>
            <a:ext cx="81896" cy="81896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6326590" y="4027870"/>
            <a:ext cx="66623" cy="66623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5"/>
          <p:cNvSpPr/>
          <p:nvPr/>
        </p:nvSpPr>
        <p:spPr>
          <a:xfrm>
            <a:off x="6724752" y="2030446"/>
            <a:ext cx="67375" cy="67375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5"/>
          <p:cNvSpPr/>
          <p:nvPr/>
        </p:nvSpPr>
        <p:spPr>
          <a:xfrm>
            <a:off x="9213924" y="3951456"/>
            <a:ext cx="75624" cy="75624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757461" y="2231365"/>
            <a:ext cx="88275" cy="88275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5"/>
          <p:cNvSpPr/>
          <p:nvPr/>
        </p:nvSpPr>
        <p:spPr>
          <a:xfrm>
            <a:off x="1000838" y="5983448"/>
            <a:ext cx="80658" cy="8065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/>
          <p:nvPr/>
        </p:nvSpPr>
        <p:spPr>
          <a:xfrm>
            <a:off x="671010" y="854403"/>
            <a:ext cx="112249" cy="112249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5"/>
          <p:cNvSpPr/>
          <p:nvPr/>
        </p:nvSpPr>
        <p:spPr>
          <a:xfrm>
            <a:off x="11638343" y="5418768"/>
            <a:ext cx="54139" cy="5413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5"/>
          <p:cNvSpPr/>
          <p:nvPr/>
        </p:nvSpPr>
        <p:spPr>
          <a:xfrm>
            <a:off x="5491520" y="1522856"/>
            <a:ext cx="106954" cy="106954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4405973" y="1116901"/>
            <a:ext cx="89688" cy="8968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4414408" y="4955933"/>
            <a:ext cx="55739" cy="5573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8765034" y="1743721"/>
            <a:ext cx="130291" cy="130291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7480657" y="2511242"/>
            <a:ext cx="95831" cy="9583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7576117" y="5016196"/>
            <a:ext cx="63931" cy="6393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10462817" y="479675"/>
            <a:ext cx="90494" cy="90494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53280" y="470380"/>
            <a:ext cx="66077" cy="66077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10863611" y="1250860"/>
            <a:ext cx="117517" cy="11751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5760206" y="1567187"/>
            <a:ext cx="100205" cy="100205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9563659" y="3071288"/>
            <a:ext cx="107020" cy="10702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5358156" y="4977883"/>
            <a:ext cx="56742" cy="56742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7817664" y="6514921"/>
            <a:ext cx="85852" cy="85852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162094" y="2575280"/>
            <a:ext cx="129170" cy="129170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6524869" y="2973921"/>
            <a:ext cx="105360" cy="105360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🙌  </a:t>
            </a:r>
            <a:r>
              <a:rPr b="1" i="0" lang="en-US" sz="13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WHO WE ARE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— ctrl alt elite</a:t>
            </a: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2831873" y="2043478"/>
            <a:ext cx="2011800" cy="2011800"/>
          </a:xfrm>
          <a:prstGeom prst="ellipse">
            <a:avLst/>
          </a:prstGeom>
          <a:solidFill>
            <a:srgbClr val="0F1626"/>
          </a:solidFill>
          <a:ln cap="flat" cmpd="sng" w="317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2102600" y="4345345"/>
            <a:ext cx="3657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Mateja Subin</a:t>
            </a:r>
            <a:endParaRPr/>
          </a:p>
        </p:txBody>
      </p:sp>
      <p:sp>
        <p:nvSpPr>
          <p:cNvPr id="266" name="Google Shape;266;p15"/>
          <p:cNvSpPr txBox="1"/>
          <p:nvPr/>
        </p:nvSpPr>
        <p:spPr>
          <a:xfrm>
            <a:off x="2102600" y="4955915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💻  builder · ctrl alt elite</a:t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7658985" y="2066540"/>
            <a:ext cx="2011800" cy="2011800"/>
          </a:xfrm>
          <a:prstGeom prst="ellipse">
            <a:avLst/>
          </a:prstGeom>
          <a:solidFill>
            <a:srgbClr val="0F1626"/>
          </a:solidFill>
          <a:ln cap="flat" cmpd="sng" w="317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6836075" y="4318670"/>
            <a:ext cx="3657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Andrija Milikić</a:t>
            </a:r>
            <a:endParaRPr/>
          </a:p>
        </p:txBody>
      </p:sp>
      <p:sp>
        <p:nvSpPr>
          <p:cNvPr id="269" name="Google Shape;269;p15"/>
          <p:cNvSpPr txBox="1"/>
          <p:nvPr/>
        </p:nvSpPr>
        <p:spPr>
          <a:xfrm>
            <a:off x="6836075" y="4907440"/>
            <a:ext cx="3657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💻  builder · ctrl alt elite</a:t>
            </a:r>
            <a:endParaRPr/>
          </a:p>
        </p:txBody>
      </p:sp>
      <p:sp>
        <p:nvSpPr>
          <p:cNvPr id="270" name="Google Shape;270;p15"/>
          <p:cNvSpPr txBox="1"/>
          <p:nvPr/>
        </p:nvSpPr>
        <p:spPr>
          <a:xfrm>
            <a:off x="0" y="576072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builders at the intersection of AI and finance.</a:t>
            </a:r>
            <a:endParaRPr/>
          </a:p>
        </p:txBody>
      </p:sp>
      <p:pic>
        <p:nvPicPr>
          <p:cNvPr descr="garaza_logo.png" id="271" name="Google Shape;2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6355080"/>
            <a:ext cx="118375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5"/>
          <p:cNvSpPr txBox="1"/>
          <p:nvPr/>
        </p:nvSpPr>
        <p:spPr>
          <a:xfrm>
            <a:off x="640080" y="63642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r>
              <a:rPr b="0" i="0" lang="en-US" sz="10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ctrl alt elite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3648902" y="5156984"/>
            <a:ext cx="86802" cy="86802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1097243" y="2159306"/>
            <a:ext cx="96486" cy="96486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10497296" y="1618790"/>
            <a:ext cx="69645" cy="69645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3925904" y="3031067"/>
            <a:ext cx="111731" cy="111731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6"/>
          <p:cNvSpPr/>
          <p:nvPr/>
        </p:nvSpPr>
        <p:spPr>
          <a:xfrm>
            <a:off x="5283591" y="5332043"/>
            <a:ext cx="68954" cy="68954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6"/>
          <p:cNvSpPr/>
          <p:nvPr/>
        </p:nvSpPr>
        <p:spPr>
          <a:xfrm>
            <a:off x="11508495" y="4866458"/>
            <a:ext cx="51885" cy="51885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420538" y="4531018"/>
            <a:ext cx="103958" cy="103958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9502915" y="3663911"/>
            <a:ext cx="86888" cy="86888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1191604" y="3116152"/>
            <a:ext cx="105108" cy="10510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6195965" y="3686727"/>
            <a:ext cx="116415" cy="116415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889826" y="3703660"/>
            <a:ext cx="51868" cy="51868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3352490" y="898460"/>
            <a:ext cx="47619" cy="47619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282194" y="5415946"/>
            <a:ext cx="97819" cy="9781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9130088" y="3543118"/>
            <a:ext cx="74569" cy="74569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9622679" y="2344628"/>
            <a:ext cx="104390" cy="104390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8457840" y="6043351"/>
            <a:ext cx="106160" cy="10616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0165866" y="5350205"/>
            <a:ext cx="110726" cy="110726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6292490" y="4741255"/>
            <a:ext cx="76561" cy="7656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895055" y="1790172"/>
            <a:ext cx="113808" cy="113808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3907507" y="2702804"/>
            <a:ext cx="65766" cy="65766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5676655" y="4872702"/>
            <a:ext cx="57096" cy="57096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10855494" y="5014833"/>
            <a:ext cx="103944" cy="103944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3809641" y="1484518"/>
            <a:ext cx="88759" cy="8875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7125919" y="1651879"/>
            <a:ext cx="66280" cy="66280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0837665" y="6185544"/>
            <a:ext cx="114628" cy="11462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10164529" y="3309289"/>
            <a:ext cx="115631" cy="11563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5807887" y="1633105"/>
            <a:ext cx="133800" cy="13380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1605536" y="5279033"/>
            <a:ext cx="103340" cy="103340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7863437" y="1738655"/>
            <a:ext cx="103405" cy="103405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5424899" y="1795465"/>
            <a:ext cx="109715" cy="109715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1980860" y="2273688"/>
            <a:ext cx="109307" cy="109307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7621542" y="6539949"/>
            <a:ext cx="84825" cy="8482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6856719" y="1361706"/>
            <a:ext cx="112743" cy="112743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9796731" y="752426"/>
            <a:ext cx="98135" cy="98135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0590633" y="4637067"/>
            <a:ext cx="121068" cy="1210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6"/>
          <p:cNvSpPr/>
          <p:nvPr/>
        </p:nvSpPr>
        <p:spPr>
          <a:xfrm>
            <a:off x="10211004" y="2157964"/>
            <a:ext cx="76222" cy="7622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6"/>
          <p:cNvSpPr/>
          <p:nvPr/>
        </p:nvSpPr>
        <p:spPr>
          <a:xfrm>
            <a:off x="9318849" y="3026046"/>
            <a:ext cx="99596" cy="99596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6"/>
          <p:cNvSpPr/>
          <p:nvPr/>
        </p:nvSpPr>
        <p:spPr>
          <a:xfrm>
            <a:off x="1988396" y="5516084"/>
            <a:ext cx="68451" cy="68451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6"/>
          <p:cNvSpPr/>
          <p:nvPr/>
        </p:nvSpPr>
        <p:spPr>
          <a:xfrm>
            <a:off x="6674773" y="6566318"/>
            <a:ext cx="50624" cy="50624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6"/>
          <p:cNvSpPr/>
          <p:nvPr/>
        </p:nvSpPr>
        <p:spPr>
          <a:xfrm>
            <a:off x="8210545" y="900662"/>
            <a:ext cx="79498" cy="79498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6"/>
          <p:cNvSpPr/>
          <p:nvPr/>
        </p:nvSpPr>
        <p:spPr>
          <a:xfrm>
            <a:off x="7820939" y="307073"/>
            <a:ext cx="97658" cy="9765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6"/>
          <p:cNvSpPr/>
          <p:nvPr/>
        </p:nvSpPr>
        <p:spPr>
          <a:xfrm>
            <a:off x="3585424" y="948787"/>
            <a:ext cx="108342" cy="108342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6"/>
          <p:cNvSpPr/>
          <p:nvPr/>
        </p:nvSpPr>
        <p:spPr>
          <a:xfrm>
            <a:off x="10730210" y="1195411"/>
            <a:ext cx="114296" cy="114296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6"/>
          <p:cNvSpPr/>
          <p:nvPr/>
        </p:nvSpPr>
        <p:spPr>
          <a:xfrm>
            <a:off x="11347745" y="5026189"/>
            <a:ext cx="52078" cy="5207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6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485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  </a:t>
            </a:r>
            <a:r>
              <a:rPr b="1" i="0" lang="en-US" sz="1300" u="none" cap="none" strike="noStrike">
                <a:solidFill>
                  <a:srgbClr val="F7485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</a:t>
            </a:r>
            <a:endParaRPr/>
          </a:p>
        </p:txBody>
      </p:sp>
      <p:sp>
        <p:nvSpPr>
          <p:cNvPr id="323" name="Google Shape;323;p16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Sanctions are easy to dodge</a:t>
            </a:r>
            <a:endParaRPr/>
          </a:p>
        </p:txBody>
      </p:sp>
      <p:sp>
        <p:nvSpPr>
          <p:cNvPr id="324" name="Google Shape;324;p16"/>
          <p:cNvSpPr txBox="1"/>
          <p:nvPr/>
        </p:nvSpPr>
        <p:spPr>
          <a:xfrm>
            <a:off x="640080" y="1645920"/>
            <a:ext cx="10789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blacklist check on a name catches the obvious. Real evasion hides one step away — behind shell companies, nominee owners and chains of intermediaries.</a:t>
            </a:r>
            <a:endParaRPr/>
          </a:p>
        </p:txBody>
      </p:sp>
      <p:sp>
        <p:nvSpPr>
          <p:cNvPr id="325" name="Google Shape;325;p16"/>
          <p:cNvSpPr/>
          <p:nvPr/>
        </p:nvSpPr>
        <p:spPr>
          <a:xfrm>
            <a:off x="822960" y="2651760"/>
            <a:ext cx="10515600" cy="713232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6"/>
          <p:cNvSpPr/>
          <p:nvPr/>
        </p:nvSpPr>
        <p:spPr>
          <a:xfrm>
            <a:off x="1005840" y="2798064"/>
            <a:ext cx="420624" cy="420624"/>
          </a:xfrm>
          <a:prstGeom prst="ellipse">
            <a:avLst/>
          </a:prstGeom>
          <a:solidFill>
            <a:srgbClr val="0F1626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6"/>
          <p:cNvSpPr txBox="1"/>
          <p:nvPr/>
        </p:nvSpPr>
        <p:spPr>
          <a:xfrm>
            <a:off x="1005840" y="2770632"/>
            <a:ext cx="420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🏢</a:t>
            </a:r>
            <a:endParaRPr/>
          </a:p>
        </p:txBody>
      </p:sp>
      <p:sp>
        <p:nvSpPr>
          <p:cNvPr id="328" name="Google Shape;328;p16"/>
          <p:cNvSpPr txBox="1"/>
          <p:nvPr/>
        </p:nvSpPr>
        <p:spPr>
          <a:xfrm>
            <a:off x="1645920" y="2651760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Shell &amp; front companies</a:t>
            </a:r>
            <a:endParaRPr/>
          </a:p>
        </p:txBody>
      </p:sp>
      <p:sp>
        <p:nvSpPr>
          <p:cNvPr id="329" name="Google Shape;329;p16"/>
          <p:cNvSpPr txBox="1"/>
          <p:nvPr/>
        </p:nvSpPr>
        <p:spPr>
          <a:xfrm>
            <a:off x="4937760" y="2651760"/>
            <a:ext cx="6217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sanctioned party routes money through a clean-looking company it secretly controls</a:t>
            </a:r>
            <a:endParaRPr/>
          </a:p>
        </p:txBody>
      </p:sp>
      <p:sp>
        <p:nvSpPr>
          <p:cNvPr id="330" name="Google Shape;330;p16"/>
          <p:cNvSpPr/>
          <p:nvPr/>
        </p:nvSpPr>
        <p:spPr>
          <a:xfrm>
            <a:off x="822960" y="3438144"/>
            <a:ext cx="10515600" cy="713232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6"/>
          <p:cNvSpPr/>
          <p:nvPr/>
        </p:nvSpPr>
        <p:spPr>
          <a:xfrm>
            <a:off x="1005840" y="3584448"/>
            <a:ext cx="420624" cy="420624"/>
          </a:xfrm>
          <a:prstGeom prst="ellipse">
            <a:avLst/>
          </a:prstGeom>
          <a:solidFill>
            <a:srgbClr val="0F1626"/>
          </a:solidFill>
          <a:ln cap="flat" cmpd="sng" w="190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6"/>
          <p:cNvSpPr txBox="1"/>
          <p:nvPr/>
        </p:nvSpPr>
        <p:spPr>
          <a:xfrm>
            <a:off x="1005840" y="3557015"/>
            <a:ext cx="420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/>
          </a:p>
        </p:txBody>
      </p:sp>
      <p:sp>
        <p:nvSpPr>
          <p:cNvPr id="333" name="Google Shape;333;p16"/>
          <p:cNvSpPr txBox="1"/>
          <p:nvPr/>
        </p:nvSpPr>
        <p:spPr>
          <a:xfrm>
            <a:off x="1645920" y="3438144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Layering &amp; hops</a:t>
            </a:r>
            <a:endParaRPr/>
          </a:p>
        </p:txBody>
      </p:sp>
      <p:sp>
        <p:nvSpPr>
          <p:cNvPr id="334" name="Google Shape;334;p16"/>
          <p:cNvSpPr txBox="1"/>
          <p:nvPr/>
        </p:nvSpPr>
        <p:spPr>
          <a:xfrm>
            <a:off x="4937760" y="3438144"/>
            <a:ext cx="6217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funds pass through several accounts so no single name matches a list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822960" y="4224528"/>
            <a:ext cx="10515600" cy="713232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6"/>
          <p:cNvSpPr/>
          <p:nvPr/>
        </p:nvSpPr>
        <p:spPr>
          <a:xfrm>
            <a:off x="1005840" y="4370832"/>
            <a:ext cx="420624" cy="420624"/>
          </a:xfrm>
          <a:prstGeom prst="ellipse">
            <a:avLst/>
          </a:prstGeom>
          <a:solidFill>
            <a:srgbClr val="0F1626"/>
          </a:solidFill>
          <a:ln cap="flat" cmpd="sng" w="190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6"/>
          <p:cNvSpPr txBox="1"/>
          <p:nvPr/>
        </p:nvSpPr>
        <p:spPr>
          <a:xfrm>
            <a:off x="1005840" y="4343400"/>
            <a:ext cx="420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🔤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1645920" y="4224528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Typos &amp; transliteration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4937760" y="4224528"/>
            <a:ext cx="6217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“Qadhafi” vs “Kaddafi” — fuzzy spelling slips past exact matching</a:t>
            </a:r>
            <a:endParaRPr/>
          </a:p>
        </p:txBody>
      </p:sp>
      <p:sp>
        <p:nvSpPr>
          <p:cNvPr id="340" name="Google Shape;340;p16"/>
          <p:cNvSpPr/>
          <p:nvPr/>
        </p:nvSpPr>
        <p:spPr>
          <a:xfrm>
            <a:off x="822960" y="5010912"/>
            <a:ext cx="10515600" cy="713232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6"/>
          <p:cNvSpPr/>
          <p:nvPr/>
        </p:nvSpPr>
        <p:spPr>
          <a:xfrm>
            <a:off x="1005840" y="5157216"/>
            <a:ext cx="420624" cy="420624"/>
          </a:xfrm>
          <a:prstGeom prst="ellipse">
            <a:avLst/>
          </a:prstGeom>
          <a:solidFill>
            <a:srgbClr val="0F1626"/>
          </a:solidFill>
          <a:ln cap="flat" cmpd="sng" w="19050">
            <a:solidFill>
              <a:srgbClr val="F5C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 txBox="1"/>
          <p:nvPr/>
        </p:nvSpPr>
        <p:spPr>
          <a:xfrm>
            <a:off x="1005840" y="5129784"/>
            <a:ext cx="42062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🪙</a:t>
            </a:r>
            <a:endParaRPr/>
          </a:p>
        </p:txBody>
      </p:sp>
      <p:sp>
        <p:nvSpPr>
          <p:cNvPr id="343" name="Google Shape;343;p16"/>
          <p:cNvSpPr txBox="1"/>
          <p:nvPr/>
        </p:nvSpPr>
        <p:spPr>
          <a:xfrm>
            <a:off x="1645920" y="5010912"/>
            <a:ext cx="32918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Crypto &amp; cross-border</a:t>
            </a:r>
            <a:endParaRPr/>
          </a:p>
        </p:txBody>
      </p:sp>
      <p:sp>
        <p:nvSpPr>
          <p:cNvPr id="344" name="Google Shape;344;p16"/>
          <p:cNvSpPr txBox="1"/>
          <p:nvPr/>
        </p:nvSpPr>
        <p:spPr>
          <a:xfrm>
            <a:off x="4937760" y="5010912"/>
            <a:ext cx="62179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wallets and corridors a static list never sees</a:t>
            </a:r>
            <a:endParaRPr/>
          </a:p>
        </p:txBody>
      </p:sp>
      <p:sp>
        <p:nvSpPr>
          <p:cNvPr id="345" name="Google Shape;345;p16"/>
          <p:cNvSpPr/>
          <p:nvPr/>
        </p:nvSpPr>
        <p:spPr>
          <a:xfrm>
            <a:off x="822960" y="5843016"/>
            <a:ext cx="10515600" cy="548640"/>
          </a:xfrm>
          <a:prstGeom prst="roundRect">
            <a:avLst>
              <a:gd fmla="val 16667" name="adj"/>
            </a:avLst>
          </a:prstGeom>
          <a:solidFill>
            <a:srgbClr val="0F1626"/>
          </a:solidFill>
          <a:ln cap="flat" cmpd="sng" w="15225">
            <a:solidFill>
              <a:srgbClr val="F748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1051560" y="5843016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7485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  The gap:  </a:t>
            </a:r>
            <a:r>
              <a:rPr b="0" i="0" lang="en-US" sz="14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name match isn’t enough — you have to follow the network.</a:t>
            </a:r>
            <a:endParaRPr/>
          </a:p>
        </p:txBody>
      </p:sp>
      <p:pic>
        <p:nvPicPr>
          <p:cNvPr descr="garaza_logo.png" id="347" name="Google Shape;34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6355080"/>
            <a:ext cx="118375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16"/>
          <p:cNvSpPr txBox="1"/>
          <p:nvPr/>
        </p:nvSpPr>
        <p:spPr>
          <a:xfrm>
            <a:off x="640080" y="63642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r>
              <a:rPr b="0" i="0" lang="en-US" sz="10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ctrl alt elite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7"/>
          <p:cNvSpPr/>
          <p:nvPr/>
        </p:nvSpPr>
        <p:spPr>
          <a:xfrm>
            <a:off x="0" y="31060"/>
            <a:ext cx="12191700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2486517" y="4876983"/>
            <a:ext cx="114851" cy="11485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8641745" y="2336316"/>
            <a:ext cx="52470" cy="52470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7442401" y="1063907"/>
            <a:ext cx="58832" cy="58832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4863954" y="5547291"/>
            <a:ext cx="52311" cy="5231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517371" y="6503696"/>
            <a:ext cx="102134" cy="102134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10954429" y="2942299"/>
            <a:ext cx="93067" cy="93067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9785211" y="2681314"/>
            <a:ext cx="75868" cy="75868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8678714" y="4124867"/>
            <a:ext cx="103419" cy="103419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/>
          <p:nvPr/>
        </p:nvSpPr>
        <p:spPr>
          <a:xfrm>
            <a:off x="7894882" y="4096327"/>
            <a:ext cx="94339" cy="94339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3741814" y="3032673"/>
            <a:ext cx="60707" cy="6070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9402704" y="5472739"/>
            <a:ext cx="57303" cy="57303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6579163" y="2469152"/>
            <a:ext cx="56089" cy="56089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/>
          <p:nvPr/>
        </p:nvSpPr>
        <p:spPr>
          <a:xfrm>
            <a:off x="11731844" y="3508052"/>
            <a:ext cx="106840" cy="10684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7"/>
          <p:cNvSpPr/>
          <p:nvPr/>
        </p:nvSpPr>
        <p:spPr>
          <a:xfrm>
            <a:off x="6803771" y="398333"/>
            <a:ext cx="102530" cy="102530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7"/>
          <p:cNvSpPr/>
          <p:nvPr/>
        </p:nvSpPr>
        <p:spPr>
          <a:xfrm>
            <a:off x="3011212" y="3892218"/>
            <a:ext cx="69800" cy="6980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3264642" y="5840029"/>
            <a:ext cx="99104" cy="99104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>
            <a:off x="10759869" y="3682113"/>
            <a:ext cx="86710" cy="86710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7"/>
          <p:cNvSpPr/>
          <p:nvPr/>
        </p:nvSpPr>
        <p:spPr>
          <a:xfrm>
            <a:off x="2117449" y="4967713"/>
            <a:ext cx="70204" cy="70204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7"/>
          <p:cNvSpPr/>
          <p:nvPr/>
        </p:nvSpPr>
        <p:spPr>
          <a:xfrm>
            <a:off x="1578337" y="5469329"/>
            <a:ext cx="111337" cy="111337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9047515" y="2536126"/>
            <a:ext cx="111402" cy="111402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/>
          <p:nvPr/>
        </p:nvSpPr>
        <p:spPr>
          <a:xfrm>
            <a:off x="5475805" y="2792177"/>
            <a:ext cx="113743" cy="113743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7"/>
          <p:cNvSpPr/>
          <p:nvPr/>
        </p:nvSpPr>
        <p:spPr>
          <a:xfrm>
            <a:off x="3752055" y="4494349"/>
            <a:ext cx="73637" cy="73637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7"/>
          <p:cNvSpPr/>
          <p:nvPr/>
        </p:nvSpPr>
        <p:spPr>
          <a:xfrm>
            <a:off x="2000127" y="2846929"/>
            <a:ext cx="106939" cy="106939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6829012" y="1332403"/>
            <a:ext cx="65007" cy="6500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65470" y="5210835"/>
            <a:ext cx="103327" cy="10332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11409328" y="4042240"/>
            <a:ext cx="75816" cy="7581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8969850" y="3315829"/>
            <a:ext cx="107039" cy="10703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9832297" y="974489"/>
            <a:ext cx="133251" cy="133251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6305944" y="2975422"/>
            <a:ext cx="69179" cy="69179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3615709" y="4144657"/>
            <a:ext cx="73260" cy="7326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8971844" y="2165326"/>
            <a:ext cx="50825" cy="50825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7"/>
          <p:cNvSpPr/>
          <p:nvPr/>
        </p:nvSpPr>
        <p:spPr>
          <a:xfrm>
            <a:off x="10058682" y="1768734"/>
            <a:ext cx="116863" cy="11686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8302317" y="3572767"/>
            <a:ext cx="68126" cy="6812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11185038" y="5819498"/>
            <a:ext cx="99179" cy="99179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10318470" y="2906647"/>
            <a:ext cx="61943" cy="6194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/>
          <p:nvPr/>
        </p:nvSpPr>
        <p:spPr>
          <a:xfrm>
            <a:off x="6797121" y="5969871"/>
            <a:ext cx="123869" cy="123869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10502726" y="3888409"/>
            <a:ext cx="67380" cy="67380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/>
          <p:nvPr/>
        </p:nvSpPr>
        <p:spPr>
          <a:xfrm>
            <a:off x="418272" y="1321755"/>
            <a:ext cx="78641" cy="7864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1797193" y="4628075"/>
            <a:ext cx="68120" cy="68120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7"/>
          <p:cNvSpPr/>
          <p:nvPr/>
        </p:nvSpPr>
        <p:spPr>
          <a:xfrm>
            <a:off x="10694713" y="2185001"/>
            <a:ext cx="114039" cy="11403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/>
          <p:nvPr/>
        </p:nvSpPr>
        <p:spPr>
          <a:xfrm>
            <a:off x="10462271" y="1516732"/>
            <a:ext cx="96379" cy="96379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/>
          <p:nvPr/>
        </p:nvSpPr>
        <p:spPr>
          <a:xfrm>
            <a:off x="2434346" y="5553631"/>
            <a:ext cx="80283" cy="80283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7602878" y="4663942"/>
            <a:ext cx="84717" cy="84717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/>
          <p:nvPr/>
        </p:nvSpPr>
        <p:spPr>
          <a:xfrm>
            <a:off x="2387386" y="5822147"/>
            <a:ext cx="79943" cy="79943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C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</a:t>
            </a:r>
            <a:r>
              <a:rPr b="1" i="0" lang="en-US" sz="1300" u="none" cap="none" strike="noStrike">
                <a:solidFill>
                  <a:srgbClr val="F5C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FUN FACTS</a:t>
            </a:r>
            <a:endParaRPr/>
          </a:p>
        </p:txBody>
      </p:sp>
      <p:sp>
        <p:nvSpPr>
          <p:cNvPr id="399" name="Google Shape;399;p17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crime, by the numbers</a:t>
            </a:r>
            <a:endParaRPr/>
          </a:p>
        </p:txBody>
      </p:sp>
      <p:sp>
        <p:nvSpPr>
          <p:cNvPr id="400" name="Google Shape;400;p17"/>
          <p:cNvSpPr/>
          <p:nvPr/>
        </p:nvSpPr>
        <p:spPr>
          <a:xfrm>
            <a:off x="822960" y="201168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7"/>
          <p:cNvSpPr/>
          <p:nvPr/>
        </p:nvSpPr>
        <p:spPr>
          <a:xfrm>
            <a:off x="822960" y="2011680"/>
            <a:ext cx="73152" cy="1371600"/>
          </a:xfrm>
          <a:prstGeom prst="rect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1024128" y="21031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🌍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1691640" y="210312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5C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2–5%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1069848" y="272491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global GDP is laundered every year — up to $2 trillion</a:t>
            </a:r>
            <a:endParaRPr/>
          </a:p>
        </p:txBody>
      </p:sp>
      <p:sp>
        <p:nvSpPr>
          <p:cNvPr id="405" name="Google Shape;405;p17"/>
          <p:cNvSpPr/>
          <p:nvPr/>
        </p:nvSpPr>
        <p:spPr>
          <a:xfrm>
            <a:off x="4526280" y="201168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526280" y="2011680"/>
            <a:ext cx="73152" cy="1371600"/>
          </a:xfrm>
          <a:prstGeom prst="rect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7"/>
          <p:cNvSpPr txBox="1"/>
          <p:nvPr/>
        </p:nvSpPr>
        <p:spPr>
          <a:xfrm>
            <a:off x="4727448" y="21031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🕵️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5394960" y="210312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F7485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~1%</a:t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4773168" y="272491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that laundered money is ever detected or seized</a:t>
            </a:r>
            <a:endParaRPr/>
          </a:p>
        </p:txBody>
      </p:sp>
      <p:sp>
        <p:nvSpPr>
          <p:cNvPr id="410" name="Google Shape;410;p17"/>
          <p:cNvSpPr/>
          <p:nvPr/>
        </p:nvSpPr>
        <p:spPr>
          <a:xfrm>
            <a:off x="8229600" y="201168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8229600" y="2011680"/>
            <a:ext cx="73152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7"/>
          <p:cNvSpPr txBox="1"/>
          <p:nvPr/>
        </p:nvSpPr>
        <p:spPr>
          <a:xfrm>
            <a:off x="8430768" y="21031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🏢</a:t>
            </a:r>
            <a:endParaRPr/>
          </a:p>
        </p:txBody>
      </p:sp>
      <p:sp>
        <p:nvSpPr>
          <p:cNvPr id="413" name="Google Shape;413;p17"/>
          <p:cNvSpPr txBox="1"/>
          <p:nvPr/>
        </p:nvSpPr>
        <p:spPr>
          <a:xfrm>
            <a:off x="9098280" y="210312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$70B</a:t>
            </a:r>
            <a:endParaRPr/>
          </a:p>
        </p:txBody>
      </p:sp>
      <p:sp>
        <p:nvSpPr>
          <p:cNvPr id="414" name="Google Shape;414;p17"/>
          <p:cNvSpPr txBox="1"/>
          <p:nvPr/>
        </p:nvSpPr>
        <p:spPr>
          <a:xfrm>
            <a:off x="8476488" y="272491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estimated yearly cost of shell-company abuse to the US alone</a:t>
            </a: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822960" y="3703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822960" y="3703320"/>
            <a:ext cx="73152" cy="137160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1024128" y="37947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📂</a:t>
            </a: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1691640" y="37947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818C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29,000</a:t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1069848" y="441655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shell companies exposed in the Pandora Papers leak</a:t>
            </a:r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4526280" y="3703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4526280" y="3703320"/>
            <a:ext cx="73152" cy="13716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7"/>
          <p:cNvSpPr txBox="1"/>
          <p:nvPr/>
        </p:nvSpPr>
        <p:spPr>
          <a:xfrm>
            <a:off x="4727448" y="37947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</a:t>
            </a:r>
            <a:endParaRPr/>
          </a:p>
        </p:txBody>
      </p:sp>
      <p:sp>
        <p:nvSpPr>
          <p:cNvPr id="423" name="Google Shape;423;p17"/>
          <p:cNvSpPr txBox="1"/>
          <p:nvPr/>
        </p:nvSpPr>
        <p:spPr>
          <a:xfrm>
            <a:off x="5394960" y="37947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100+</a:t>
            </a:r>
            <a:endParaRPr/>
          </a:p>
        </p:txBody>
      </p:sp>
      <p:sp>
        <p:nvSpPr>
          <p:cNvPr id="424" name="Google Shape;424;p17"/>
          <p:cNvSpPr txBox="1"/>
          <p:nvPr/>
        </p:nvSpPr>
        <p:spPr>
          <a:xfrm>
            <a:off x="4773168" y="441655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names added to OFAC’s sanctions list 8 separate times in 2024</a:t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8229600" y="3703320"/>
            <a:ext cx="3429000" cy="1371600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7"/>
          <p:cNvSpPr/>
          <p:nvPr/>
        </p:nvSpPr>
        <p:spPr>
          <a:xfrm>
            <a:off x="8229600" y="3703320"/>
            <a:ext cx="73152" cy="1371600"/>
          </a:xfrm>
          <a:prstGeom prst="rect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8430768" y="379476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💸</a:t>
            </a:r>
            <a:endParaRPr/>
          </a:p>
        </p:txBody>
      </p:sp>
      <p:sp>
        <p:nvSpPr>
          <p:cNvPr id="428" name="Google Shape;428;p17"/>
          <p:cNvSpPr txBox="1"/>
          <p:nvPr/>
        </p:nvSpPr>
        <p:spPr>
          <a:xfrm>
            <a:off x="9098280" y="3794760"/>
            <a:ext cx="2423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0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$3T+</a:t>
            </a:r>
            <a:endParaRPr/>
          </a:p>
        </p:txBody>
      </p:sp>
      <p:sp>
        <p:nvSpPr>
          <p:cNvPr id="429" name="Google Shape;429;p17"/>
          <p:cNvSpPr txBox="1"/>
          <p:nvPr/>
        </p:nvSpPr>
        <p:spPr>
          <a:xfrm>
            <a:off x="8476488" y="4416552"/>
            <a:ext cx="3017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 illicit funds flowed through the financial system in 2023</a:t>
            </a:r>
            <a:endParaRPr/>
          </a:p>
        </p:txBody>
      </p:sp>
      <p:sp>
        <p:nvSpPr>
          <p:cNvPr id="430" name="Google Shape;430;p17"/>
          <p:cNvSpPr txBox="1"/>
          <p:nvPr/>
        </p:nvSpPr>
        <p:spPr>
          <a:xfrm>
            <a:off x="822960" y="6355080"/>
            <a:ext cx="10789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Sources: UNODC · OCCRP · FinCEN · ICIJ Pandora Papers · CNAS 2024 · AML Intelligence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11433148" y="1969206"/>
            <a:ext cx="110019" cy="110019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8314610" y="6188434"/>
            <a:ext cx="51498" cy="5149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0260222" y="995388"/>
            <a:ext cx="65394" cy="65394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6028960" y="2106285"/>
            <a:ext cx="104513" cy="104513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7068513" y="1683881"/>
            <a:ext cx="113513" cy="11351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3389980" y="4295407"/>
            <a:ext cx="136073" cy="136073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10913869" y="697681"/>
            <a:ext cx="46230" cy="46230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6449923" y="2919643"/>
            <a:ext cx="57754" cy="57754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3026478" y="2002315"/>
            <a:ext cx="59352" cy="59352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11743107" y="442202"/>
            <a:ext cx="100627" cy="10062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168400" y="5894524"/>
            <a:ext cx="77250" cy="77250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3906600" y="3301240"/>
            <a:ext cx="91806" cy="9180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8883470" y="3607473"/>
            <a:ext cx="102137" cy="102137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7282113" y="1724231"/>
            <a:ext cx="102268" cy="10226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3188405" y="3686773"/>
            <a:ext cx="89852" cy="89852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52328" y="4021491"/>
            <a:ext cx="87609" cy="87609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3956566" y="4094400"/>
            <a:ext cx="104693" cy="10469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8634065" y="5672820"/>
            <a:ext cx="80467" cy="80467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821725" y="3680921"/>
            <a:ext cx="63128" cy="63128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771416" y="2931795"/>
            <a:ext cx="105679" cy="10567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9129413" y="3395622"/>
            <a:ext cx="83068" cy="8306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3131482" y="1244208"/>
            <a:ext cx="106503" cy="10650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855581" y="2838185"/>
            <a:ext cx="61546" cy="61546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1646070" y="5029263"/>
            <a:ext cx="55561" cy="55561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8"/>
          <p:cNvSpPr/>
          <p:nvPr/>
        </p:nvSpPr>
        <p:spPr>
          <a:xfrm>
            <a:off x="6266990" y="6492422"/>
            <a:ext cx="99386" cy="99386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8"/>
          <p:cNvSpPr/>
          <p:nvPr/>
        </p:nvSpPr>
        <p:spPr>
          <a:xfrm>
            <a:off x="1800350" y="2725641"/>
            <a:ext cx="76768" cy="76768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8"/>
          <p:cNvSpPr/>
          <p:nvPr/>
        </p:nvSpPr>
        <p:spPr>
          <a:xfrm>
            <a:off x="11553980" y="4549126"/>
            <a:ext cx="117121" cy="11712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8"/>
          <p:cNvSpPr/>
          <p:nvPr/>
        </p:nvSpPr>
        <p:spPr>
          <a:xfrm>
            <a:off x="3611662" y="983868"/>
            <a:ext cx="76322" cy="7632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8"/>
          <p:cNvSpPr/>
          <p:nvPr/>
        </p:nvSpPr>
        <p:spPr>
          <a:xfrm>
            <a:off x="11093520" y="2541843"/>
            <a:ext cx="117500" cy="11750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8"/>
          <p:cNvSpPr/>
          <p:nvPr/>
        </p:nvSpPr>
        <p:spPr>
          <a:xfrm>
            <a:off x="603335" y="2790017"/>
            <a:ext cx="50000" cy="5000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8"/>
          <p:cNvSpPr/>
          <p:nvPr/>
        </p:nvSpPr>
        <p:spPr>
          <a:xfrm>
            <a:off x="6804174" y="6024417"/>
            <a:ext cx="113305" cy="11330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8"/>
          <p:cNvSpPr/>
          <p:nvPr/>
        </p:nvSpPr>
        <p:spPr>
          <a:xfrm>
            <a:off x="5572676" y="2725711"/>
            <a:ext cx="73600" cy="73600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8"/>
          <p:cNvSpPr/>
          <p:nvPr/>
        </p:nvSpPr>
        <p:spPr>
          <a:xfrm>
            <a:off x="2668027" y="2436431"/>
            <a:ext cx="85920" cy="85920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8"/>
          <p:cNvSpPr/>
          <p:nvPr/>
        </p:nvSpPr>
        <p:spPr>
          <a:xfrm>
            <a:off x="5779389" y="2772040"/>
            <a:ext cx="101286" cy="10128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5390721" y="6541213"/>
            <a:ext cx="108830" cy="108830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8"/>
          <p:cNvSpPr/>
          <p:nvPr/>
        </p:nvSpPr>
        <p:spPr>
          <a:xfrm>
            <a:off x="6486000" y="2892511"/>
            <a:ext cx="90849" cy="90849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8"/>
          <p:cNvSpPr/>
          <p:nvPr/>
        </p:nvSpPr>
        <p:spPr>
          <a:xfrm>
            <a:off x="7433573" y="3526269"/>
            <a:ext cx="83183" cy="8318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8"/>
          <p:cNvSpPr/>
          <p:nvPr/>
        </p:nvSpPr>
        <p:spPr>
          <a:xfrm>
            <a:off x="3293479" y="2523404"/>
            <a:ext cx="133103" cy="133103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8"/>
          <p:cNvSpPr/>
          <p:nvPr/>
        </p:nvSpPr>
        <p:spPr>
          <a:xfrm>
            <a:off x="1747974" y="1759396"/>
            <a:ext cx="54442" cy="54442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8"/>
          <p:cNvSpPr/>
          <p:nvPr/>
        </p:nvSpPr>
        <p:spPr>
          <a:xfrm>
            <a:off x="9993332" y="3087971"/>
            <a:ext cx="73618" cy="73618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8"/>
          <p:cNvSpPr/>
          <p:nvPr/>
        </p:nvSpPr>
        <p:spPr>
          <a:xfrm>
            <a:off x="9193076" y="3528795"/>
            <a:ext cx="98369" cy="98369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8"/>
          <p:cNvSpPr/>
          <p:nvPr/>
        </p:nvSpPr>
        <p:spPr>
          <a:xfrm>
            <a:off x="5876188" y="1421624"/>
            <a:ext cx="55057" cy="55057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8"/>
          <p:cNvSpPr/>
          <p:nvPr/>
        </p:nvSpPr>
        <p:spPr>
          <a:xfrm>
            <a:off x="3806462" y="2923494"/>
            <a:ext cx="55669" cy="5566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8"/>
          <p:cNvSpPr/>
          <p:nvPr/>
        </p:nvSpPr>
        <p:spPr>
          <a:xfrm>
            <a:off x="3825044" y="3099142"/>
            <a:ext cx="110102" cy="110102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8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🛠️  </a:t>
            </a:r>
            <a:r>
              <a:rPr b="1" i="0" lang="en-US" sz="130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IT’S BUILT</a:t>
            </a:r>
            <a:endParaRPr/>
          </a:p>
        </p:txBody>
      </p:sp>
      <p:sp>
        <p:nvSpPr>
          <p:cNvPr id="481" name="Google Shape;481;p18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 stack</a:t>
            </a:r>
            <a:endParaRPr/>
          </a:p>
        </p:txBody>
      </p:sp>
      <p:sp>
        <p:nvSpPr>
          <p:cNvPr id="482" name="Google Shape;482;p18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F1626"/>
          </a:solidFill>
          <a:ln cap="flat" cmpd="sng" w="228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8"/>
          <p:cNvSpPr txBox="1"/>
          <p:nvPr/>
        </p:nvSpPr>
        <p:spPr>
          <a:xfrm>
            <a:off x="822960" y="202996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🧠</a:t>
            </a:r>
            <a:endParaRPr/>
          </a:p>
        </p:txBody>
      </p:sp>
      <p:sp>
        <p:nvSpPr>
          <p:cNvPr id="484" name="Google Shape;484;p18"/>
          <p:cNvSpPr txBox="1"/>
          <p:nvPr/>
        </p:nvSpPr>
        <p:spPr>
          <a:xfrm>
            <a:off x="1508760" y="201168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8BD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Screening engine</a:t>
            </a:r>
            <a:endParaRPr/>
          </a:p>
        </p:txBody>
      </p:sp>
      <p:sp>
        <p:nvSpPr>
          <p:cNvPr id="485" name="Google Shape;485;p18"/>
          <p:cNvSpPr/>
          <p:nvPr/>
        </p:nvSpPr>
        <p:spPr>
          <a:xfrm>
            <a:off x="3886200" y="2121408"/>
            <a:ext cx="1174089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8"/>
          <p:cNvSpPr txBox="1"/>
          <p:nvPr/>
        </p:nvSpPr>
        <p:spPr>
          <a:xfrm>
            <a:off x="3886200" y="2121408"/>
            <a:ext cx="117408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🐍 Python</a:t>
            </a:r>
            <a:endParaRPr/>
          </a:p>
        </p:txBody>
      </p:sp>
      <p:sp>
        <p:nvSpPr>
          <p:cNvPr id="487" name="Google Shape;487;p18"/>
          <p:cNvSpPr/>
          <p:nvPr/>
        </p:nvSpPr>
        <p:spPr>
          <a:xfrm>
            <a:off x="5224881" y="2121408"/>
            <a:ext cx="1371600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8"/>
          <p:cNvSpPr txBox="1"/>
          <p:nvPr/>
        </p:nvSpPr>
        <p:spPr>
          <a:xfrm>
            <a:off x="5224881" y="2121408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🌳 LightGBM</a:t>
            </a:r>
            <a:endParaRPr/>
          </a:p>
        </p:txBody>
      </p:sp>
      <p:sp>
        <p:nvSpPr>
          <p:cNvPr id="489" name="Google Shape;489;p18"/>
          <p:cNvSpPr/>
          <p:nvPr/>
        </p:nvSpPr>
        <p:spPr>
          <a:xfrm>
            <a:off x="6761073" y="2121408"/>
            <a:ext cx="1766620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8"/>
          <p:cNvSpPr txBox="1"/>
          <p:nvPr/>
        </p:nvSpPr>
        <p:spPr>
          <a:xfrm>
            <a:off x="6761073" y="2121408"/>
            <a:ext cx="17666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📈 scikit-learn</a:t>
            </a:r>
            <a:endParaRPr/>
          </a:p>
        </p:txBody>
      </p:sp>
      <p:sp>
        <p:nvSpPr>
          <p:cNvPr id="491" name="Google Shape;491;p18"/>
          <p:cNvSpPr/>
          <p:nvPr/>
        </p:nvSpPr>
        <p:spPr>
          <a:xfrm>
            <a:off x="8692286" y="2121408"/>
            <a:ext cx="1470355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8"/>
          <p:cNvSpPr txBox="1"/>
          <p:nvPr/>
        </p:nvSpPr>
        <p:spPr>
          <a:xfrm>
            <a:off x="8692286" y="2121408"/>
            <a:ext cx="1470355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🔤 RapidFuzz</a:t>
            </a:r>
            <a:endParaRPr/>
          </a:p>
        </p:txBody>
      </p:sp>
      <p:sp>
        <p:nvSpPr>
          <p:cNvPr id="493" name="Google Shape;493;p18"/>
          <p:cNvSpPr/>
          <p:nvPr/>
        </p:nvSpPr>
        <p:spPr>
          <a:xfrm>
            <a:off x="822960" y="2880360"/>
            <a:ext cx="548640" cy="548640"/>
          </a:xfrm>
          <a:prstGeom prst="ellipse">
            <a:avLst/>
          </a:prstGeom>
          <a:solidFill>
            <a:srgbClr val="0F1626"/>
          </a:solidFill>
          <a:ln cap="flat" cmpd="sng" w="22850">
            <a:solidFill>
              <a:srgbClr val="818C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8"/>
          <p:cNvSpPr txBox="1"/>
          <p:nvPr/>
        </p:nvSpPr>
        <p:spPr>
          <a:xfrm>
            <a:off x="822960" y="285292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</a:t>
            </a:r>
            <a:endParaRPr/>
          </a:p>
        </p:txBody>
      </p:sp>
      <p:sp>
        <p:nvSpPr>
          <p:cNvPr id="495" name="Google Shape;495;p18"/>
          <p:cNvSpPr txBox="1"/>
          <p:nvPr/>
        </p:nvSpPr>
        <p:spPr>
          <a:xfrm>
            <a:off x="1508760" y="283464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818C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Streaming</a:t>
            </a:r>
            <a:endParaRPr/>
          </a:p>
        </p:txBody>
      </p:sp>
      <p:sp>
        <p:nvSpPr>
          <p:cNvPr id="496" name="Google Shape;496;p18"/>
          <p:cNvSpPr/>
          <p:nvPr/>
        </p:nvSpPr>
        <p:spPr>
          <a:xfrm>
            <a:off x="3886200" y="2944368"/>
            <a:ext cx="1766620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8"/>
          <p:cNvSpPr txBox="1"/>
          <p:nvPr/>
        </p:nvSpPr>
        <p:spPr>
          <a:xfrm>
            <a:off x="3886200" y="2944368"/>
            <a:ext cx="176662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🟪 Apache Kafka</a:t>
            </a:r>
            <a:endParaRPr/>
          </a:p>
        </p:txBody>
      </p:sp>
      <p:sp>
        <p:nvSpPr>
          <p:cNvPr id="498" name="Google Shape;498;p18"/>
          <p:cNvSpPr/>
          <p:nvPr/>
        </p:nvSpPr>
        <p:spPr>
          <a:xfrm>
            <a:off x="5817412" y="2944368"/>
            <a:ext cx="1371600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8"/>
          <p:cNvSpPr txBox="1"/>
          <p:nvPr/>
        </p:nvSpPr>
        <p:spPr>
          <a:xfrm>
            <a:off x="5817412" y="2944368"/>
            <a:ext cx="13716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 aiokafka</a:t>
            </a:r>
            <a:endParaRPr/>
          </a:p>
        </p:txBody>
      </p:sp>
      <p:sp>
        <p:nvSpPr>
          <p:cNvPr id="500" name="Google Shape;500;p18"/>
          <p:cNvSpPr/>
          <p:nvPr/>
        </p:nvSpPr>
        <p:spPr>
          <a:xfrm>
            <a:off x="7353604" y="2944368"/>
            <a:ext cx="1964131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8"/>
          <p:cNvSpPr txBox="1"/>
          <p:nvPr/>
        </p:nvSpPr>
        <p:spPr>
          <a:xfrm>
            <a:off x="7353604" y="2944368"/>
            <a:ext cx="1964131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🧩 scatter-gather</a:t>
            </a:r>
            <a:endParaRPr/>
          </a:p>
        </p:txBody>
      </p:sp>
      <p:sp>
        <p:nvSpPr>
          <p:cNvPr id="502" name="Google Shape;502;p18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0F1626"/>
          </a:solidFill>
          <a:ln cap="flat" cmpd="sng" w="22850">
            <a:solidFill>
              <a:srgbClr val="F5C3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8"/>
          <p:cNvSpPr txBox="1"/>
          <p:nvPr/>
        </p:nvSpPr>
        <p:spPr>
          <a:xfrm>
            <a:off x="822960" y="3675887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🗄️</a:t>
            </a:r>
            <a:endParaRPr/>
          </a:p>
        </p:txBody>
      </p:sp>
      <p:sp>
        <p:nvSpPr>
          <p:cNvPr id="504" name="Google Shape;504;p18"/>
          <p:cNvSpPr txBox="1"/>
          <p:nvPr/>
        </p:nvSpPr>
        <p:spPr>
          <a:xfrm>
            <a:off x="1508760" y="365760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F5C32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&amp; API</a:t>
            </a:r>
            <a:endParaRPr/>
          </a:p>
        </p:txBody>
      </p:sp>
      <p:sp>
        <p:nvSpPr>
          <p:cNvPr id="505" name="Google Shape;505;p18"/>
          <p:cNvSpPr/>
          <p:nvPr/>
        </p:nvSpPr>
        <p:spPr>
          <a:xfrm>
            <a:off x="3886200" y="3767328"/>
            <a:ext cx="1569110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8"/>
          <p:cNvSpPr txBox="1"/>
          <p:nvPr/>
        </p:nvSpPr>
        <p:spPr>
          <a:xfrm>
            <a:off x="3886200" y="3767328"/>
            <a:ext cx="156911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🐘 PostgreSQL</a:t>
            </a:r>
            <a:endParaRPr/>
          </a:p>
        </p:txBody>
      </p:sp>
      <p:sp>
        <p:nvSpPr>
          <p:cNvPr id="507" name="Google Shape;507;p18"/>
          <p:cNvSpPr/>
          <p:nvPr/>
        </p:nvSpPr>
        <p:spPr>
          <a:xfrm>
            <a:off x="5619902" y="3767328"/>
            <a:ext cx="1272844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8"/>
          <p:cNvSpPr txBox="1"/>
          <p:nvPr/>
        </p:nvSpPr>
        <p:spPr>
          <a:xfrm>
            <a:off x="5619902" y="3767328"/>
            <a:ext cx="12728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 FastAPI</a:t>
            </a:r>
            <a:endParaRPr/>
          </a:p>
        </p:txBody>
      </p:sp>
      <p:sp>
        <p:nvSpPr>
          <p:cNvPr id="509" name="Google Shape;509;p18"/>
          <p:cNvSpPr/>
          <p:nvPr/>
        </p:nvSpPr>
        <p:spPr>
          <a:xfrm>
            <a:off x="7057339" y="3767328"/>
            <a:ext cx="877824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8"/>
          <p:cNvSpPr txBox="1"/>
          <p:nvPr/>
        </p:nvSpPr>
        <p:spPr>
          <a:xfrm>
            <a:off x="7057339" y="3767328"/>
            <a:ext cx="8778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🔐 JWT</a:t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8099755" y="3767328"/>
            <a:ext cx="1470355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 txBox="1"/>
          <p:nvPr/>
        </p:nvSpPr>
        <p:spPr>
          <a:xfrm>
            <a:off x="8099755" y="3767328"/>
            <a:ext cx="1470355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🔌 WebSocket</a:t>
            </a:r>
            <a:endParaRPr/>
          </a:p>
        </p:txBody>
      </p:sp>
      <p:sp>
        <p:nvSpPr>
          <p:cNvPr id="513" name="Google Shape;513;p18"/>
          <p:cNvSpPr/>
          <p:nvPr/>
        </p:nvSpPr>
        <p:spPr>
          <a:xfrm>
            <a:off x="822960" y="4526280"/>
            <a:ext cx="548640" cy="548640"/>
          </a:xfrm>
          <a:prstGeom prst="ellipse">
            <a:avLst/>
          </a:prstGeom>
          <a:solidFill>
            <a:srgbClr val="0F1626"/>
          </a:solidFill>
          <a:ln cap="flat" cmpd="sng" w="22850">
            <a:solidFill>
              <a:srgbClr val="28E68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8"/>
          <p:cNvSpPr txBox="1"/>
          <p:nvPr/>
        </p:nvSpPr>
        <p:spPr>
          <a:xfrm>
            <a:off x="822960" y="449884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</a:t>
            </a:r>
            <a:endParaRPr/>
          </a:p>
        </p:txBody>
      </p:sp>
      <p:sp>
        <p:nvSpPr>
          <p:cNvPr id="515" name="Google Shape;515;p18"/>
          <p:cNvSpPr txBox="1"/>
          <p:nvPr/>
        </p:nvSpPr>
        <p:spPr>
          <a:xfrm>
            <a:off x="1508760" y="448056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Frontend</a:t>
            </a:r>
            <a:endParaRPr/>
          </a:p>
        </p:txBody>
      </p:sp>
      <p:sp>
        <p:nvSpPr>
          <p:cNvPr id="516" name="Google Shape;516;p18"/>
          <p:cNvSpPr/>
          <p:nvPr/>
        </p:nvSpPr>
        <p:spPr>
          <a:xfrm>
            <a:off x="3886200" y="4590288"/>
            <a:ext cx="1174089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8"/>
          <p:cNvSpPr txBox="1"/>
          <p:nvPr/>
        </p:nvSpPr>
        <p:spPr>
          <a:xfrm>
            <a:off x="3886200" y="4590288"/>
            <a:ext cx="117408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⚛️ React</a:t>
            </a:r>
            <a:endParaRPr/>
          </a:p>
        </p:txBody>
      </p:sp>
      <p:sp>
        <p:nvSpPr>
          <p:cNvPr id="518" name="Google Shape;518;p18"/>
          <p:cNvSpPr/>
          <p:nvPr/>
        </p:nvSpPr>
        <p:spPr>
          <a:xfrm>
            <a:off x="5224881" y="4590288"/>
            <a:ext cx="976579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8"/>
          <p:cNvSpPr txBox="1"/>
          <p:nvPr/>
        </p:nvSpPr>
        <p:spPr>
          <a:xfrm>
            <a:off x="5224881" y="4590288"/>
            <a:ext cx="97657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⚡ Vite</a:t>
            </a:r>
            <a:endParaRPr/>
          </a:p>
        </p:txBody>
      </p:sp>
      <p:sp>
        <p:nvSpPr>
          <p:cNvPr id="520" name="Google Shape;520;p18"/>
          <p:cNvSpPr/>
          <p:nvPr/>
        </p:nvSpPr>
        <p:spPr>
          <a:xfrm>
            <a:off x="6366052" y="4590288"/>
            <a:ext cx="1667865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8"/>
          <p:cNvSpPr txBox="1"/>
          <p:nvPr/>
        </p:nvSpPr>
        <p:spPr>
          <a:xfrm>
            <a:off x="6366052" y="4590288"/>
            <a:ext cx="1667865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🎨 live canvas</a:t>
            </a:r>
            <a:endParaRPr/>
          </a:p>
        </p:txBody>
      </p:sp>
      <p:sp>
        <p:nvSpPr>
          <p:cNvPr id="522" name="Google Shape;522;p18"/>
          <p:cNvSpPr/>
          <p:nvPr/>
        </p:nvSpPr>
        <p:spPr>
          <a:xfrm>
            <a:off x="822960" y="5349240"/>
            <a:ext cx="548640" cy="548640"/>
          </a:xfrm>
          <a:prstGeom prst="ellipse">
            <a:avLst/>
          </a:prstGeom>
          <a:solidFill>
            <a:srgbClr val="0F1626"/>
          </a:solidFill>
          <a:ln cap="flat" cmpd="sng" w="228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8"/>
          <p:cNvSpPr txBox="1"/>
          <p:nvPr/>
        </p:nvSpPr>
        <p:spPr>
          <a:xfrm>
            <a:off x="822960" y="5321808"/>
            <a:ext cx="5486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🐳</a:t>
            </a:r>
            <a:endParaRPr/>
          </a:p>
        </p:txBody>
      </p:sp>
      <p:sp>
        <p:nvSpPr>
          <p:cNvPr id="524" name="Google Shape;524;p18"/>
          <p:cNvSpPr txBox="1"/>
          <p:nvPr/>
        </p:nvSpPr>
        <p:spPr>
          <a:xfrm>
            <a:off x="1508760" y="530352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5EEAD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Infra</a:t>
            </a:r>
            <a:endParaRPr/>
          </a:p>
        </p:txBody>
      </p:sp>
      <p:sp>
        <p:nvSpPr>
          <p:cNvPr id="525" name="Google Shape;525;p18"/>
          <p:cNvSpPr/>
          <p:nvPr/>
        </p:nvSpPr>
        <p:spPr>
          <a:xfrm>
            <a:off x="3886200" y="5413248"/>
            <a:ext cx="1174089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8"/>
          <p:cNvSpPr txBox="1"/>
          <p:nvPr/>
        </p:nvSpPr>
        <p:spPr>
          <a:xfrm>
            <a:off x="3886200" y="5413248"/>
            <a:ext cx="1174089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🐳 Docker</a:t>
            </a:r>
            <a:endParaRPr/>
          </a:p>
        </p:txBody>
      </p:sp>
      <p:sp>
        <p:nvSpPr>
          <p:cNvPr id="527" name="Google Shape;527;p18"/>
          <p:cNvSpPr/>
          <p:nvPr/>
        </p:nvSpPr>
        <p:spPr>
          <a:xfrm>
            <a:off x="5224881" y="5413248"/>
            <a:ext cx="1075334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8"/>
          <p:cNvSpPr txBox="1"/>
          <p:nvPr/>
        </p:nvSpPr>
        <p:spPr>
          <a:xfrm>
            <a:off x="5224881" y="5413248"/>
            <a:ext cx="107533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 nginx</a:t>
            </a:r>
            <a:endParaRPr/>
          </a:p>
        </p:txBody>
      </p:sp>
      <p:sp>
        <p:nvSpPr>
          <p:cNvPr id="529" name="Google Shape;529;p18"/>
          <p:cNvSpPr/>
          <p:nvPr/>
        </p:nvSpPr>
        <p:spPr>
          <a:xfrm>
            <a:off x="6464808" y="5413248"/>
            <a:ext cx="1272844" cy="420624"/>
          </a:xfrm>
          <a:prstGeom prst="roundRect">
            <a:avLst>
              <a:gd fmla="val 16667" name="adj"/>
            </a:avLst>
          </a:prstGeom>
          <a:solidFill>
            <a:srgbClr val="141C2B"/>
          </a:solidFill>
          <a:ln cap="flat" cmpd="sng" w="12700">
            <a:solidFill>
              <a:srgbClr val="2A35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8"/>
          <p:cNvSpPr txBox="1"/>
          <p:nvPr/>
        </p:nvSpPr>
        <p:spPr>
          <a:xfrm>
            <a:off x="6464808" y="5413248"/>
            <a:ext cx="127284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📦 Compose</a:t>
            </a:r>
            <a:endParaRPr/>
          </a:p>
        </p:txBody>
      </p:sp>
      <p:pic>
        <p:nvPicPr>
          <p:cNvPr descr="garaza_logo.png" id="531" name="Google Shape;5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69880" y="6355080"/>
            <a:ext cx="118375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18"/>
          <p:cNvSpPr txBox="1"/>
          <p:nvPr/>
        </p:nvSpPr>
        <p:spPr>
          <a:xfrm>
            <a:off x="640080" y="63642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r>
              <a:rPr b="0" i="0" lang="en-US" sz="10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ctrl alt elite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423118" y="3084391"/>
            <a:ext cx="106233" cy="106233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2793187" y="2084754"/>
            <a:ext cx="61502" cy="61502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9"/>
          <p:cNvSpPr/>
          <p:nvPr/>
        </p:nvSpPr>
        <p:spPr>
          <a:xfrm>
            <a:off x="10103653" y="4976502"/>
            <a:ext cx="46551" cy="46551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7897118" y="653794"/>
            <a:ext cx="86547" cy="8654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9"/>
          <p:cNvSpPr/>
          <p:nvPr/>
        </p:nvSpPr>
        <p:spPr>
          <a:xfrm>
            <a:off x="7969664" y="6298610"/>
            <a:ext cx="62881" cy="62881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9"/>
          <p:cNvSpPr/>
          <p:nvPr/>
        </p:nvSpPr>
        <p:spPr>
          <a:xfrm>
            <a:off x="1193388" y="2946694"/>
            <a:ext cx="50116" cy="5011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9"/>
          <p:cNvSpPr/>
          <p:nvPr/>
        </p:nvSpPr>
        <p:spPr>
          <a:xfrm>
            <a:off x="11072627" y="2037032"/>
            <a:ext cx="61932" cy="61932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9"/>
          <p:cNvSpPr/>
          <p:nvPr/>
        </p:nvSpPr>
        <p:spPr>
          <a:xfrm>
            <a:off x="2509701" y="5111170"/>
            <a:ext cx="97826" cy="97826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9"/>
          <p:cNvSpPr/>
          <p:nvPr/>
        </p:nvSpPr>
        <p:spPr>
          <a:xfrm>
            <a:off x="8864803" y="5995918"/>
            <a:ext cx="80709" cy="8070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9"/>
          <p:cNvSpPr/>
          <p:nvPr/>
        </p:nvSpPr>
        <p:spPr>
          <a:xfrm>
            <a:off x="8378327" y="3744163"/>
            <a:ext cx="47405" cy="47405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9"/>
          <p:cNvSpPr/>
          <p:nvPr/>
        </p:nvSpPr>
        <p:spPr>
          <a:xfrm>
            <a:off x="1551165" y="6009741"/>
            <a:ext cx="65617" cy="6561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9"/>
          <p:cNvSpPr/>
          <p:nvPr/>
        </p:nvSpPr>
        <p:spPr>
          <a:xfrm>
            <a:off x="5959968" y="3951931"/>
            <a:ext cx="69533" cy="69533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9"/>
          <p:cNvSpPr/>
          <p:nvPr/>
        </p:nvSpPr>
        <p:spPr>
          <a:xfrm>
            <a:off x="986352" y="453267"/>
            <a:ext cx="73025" cy="73025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9"/>
          <p:cNvSpPr/>
          <p:nvPr/>
        </p:nvSpPr>
        <p:spPr>
          <a:xfrm>
            <a:off x="3214476" y="4474159"/>
            <a:ext cx="80046" cy="80046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9"/>
          <p:cNvSpPr/>
          <p:nvPr/>
        </p:nvSpPr>
        <p:spPr>
          <a:xfrm>
            <a:off x="11354425" y="2533115"/>
            <a:ext cx="114657" cy="114657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9"/>
          <p:cNvSpPr/>
          <p:nvPr/>
        </p:nvSpPr>
        <p:spPr>
          <a:xfrm>
            <a:off x="7508431" y="4173921"/>
            <a:ext cx="76119" cy="7611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9"/>
          <p:cNvSpPr/>
          <p:nvPr/>
        </p:nvSpPr>
        <p:spPr>
          <a:xfrm>
            <a:off x="940162" y="3177141"/>
            <a:ext cx="116409" cy="11640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9"/>
          <p:cNvSpPr/>
          <p:nvPr/>
        </p:nvSpPr>
        <p:spPr>
          <a:xfrm>
            <a:off x="585256" y="1091931"/>
            <a:ext cx="68295" cy="68295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9"/>
          <p:cNvSpPr/>
          <p:nvPr/>
        </p:nvSpPr>
        <p:spPr>
          <a:xfrm>
            <a:off x="5695414" y="362697"/>
            <a:ext cx="65455" cy="65455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9"/>
          <p:cNvSpPr/>
          <p:nvPr/>
        </p:nvSpPr>
        <p:spPr>
          <a:xfrm>
            <a:off x="8129238" y="1719188"/>
            <a:ext cx="107960" cy="107960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9"/>
          <p:cNvSpPr/>
          <p:nvPr/>
        </p:nvSpPr>
        <p:spPr>
          <a:xfrm>
            <a:off x="178251" y="3704913"/>
            <a:ext cx="101702" cy="10170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9"/>
          <p:cNvSpPr/>
          <p:nvPr/>
        </p:nvSpPr>
        <p:spPr>
          <a:xfrm>
            <a:off x="7473729" y="3792300"/>
            <a:ext cx="116591" cy="116591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9"/>
          <p:cNvSpPr/>
          <p:nvPr/>
        </p:nvSpPr>
        <p:spPr>
          <a:xfrm>
            <a:off x="3239954" y="888853"/>
            <a:ext cx="124717" cy="124717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9"/>
          <p:cNvSpPr/>
          <p:nvPr/>
        </p:nvSpPr>
        <p:spPr>
          <a:xfrm>
            <a:off x="8307975" y="4591700"/>
            <a:ext cx="106025" cy="10602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9"/>
          <p:cNvSpPr/>
          <p:nvPr/>
        </p:nvSpPr>
        <p:spPr>
          <a:xfrm>
            <a:off x="4050672" y="4608901"/>
            <a:ext cx="67203" cy="67203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9"/>
          <p:cNvSpPr/>
          <p:nvPr/>
        </p:nvSpPr>
        <p:spPr>
          <a:xfrm>
            <a:off x="3494244" y="4988340"/>
            <a:ext cx="63059" cy="63059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9"/>
          <p:cNvSpPr/>
          <p:nvPr/>
        </p:nvSpPr>
        <p:spPr>
          <a:xfrm>
            <a:off x="4393274" y="4716415"/>
            <a:ext cx="99670" cy="99670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9"/>
          <p:cNvSpPr/>
          <p:nvPr/>
        </p:nvSpPr>
        <p:spPr>
          <a:xfrm>
            <a:off x="11759927" y="5426001"/>
            <a:ext cx="68409" cy="6840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9"/>
          <p:cNvSpPr/>
          <p:nvPr/>
        </p:nvSpPr>
        <p:spPr>
          <a:xfrm>
            <a:off x="6157351" y="4545320"/>
            <a:ext cx="112938" cy="112938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9"/>
          <p:cNvSpPr/>
          <p:nvPr/>
        </p:nvSpPr>
        <p:spPr>
          <a:xfrm>
            <a:off x="10357678" y="568225"/>
            <a:ext cx="82840" cy="82840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19"/>
          <p:cNvSpPr/>
          <p:nvPr/>
        </p:nvSpPr>
        <p:spPr>
          <a:xfrm>
            <a:off x="3109258" y="4262661"/>
            <a:ext cx="95671" cy="95671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9"/>
          <p:cNvSpPr/>
          <p:nvPr/>
        </p:nvSpPr>
        <p:spPr>
          <a:xfrm>
            <a:off x="4059788" y="5053757"/>
            <a:ext cx="106329" cy="106329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19"/>
          <p:cNvSpPr/>
          <p:nvPr/>
        </p:nvSpPr>
        <p:spPr>
          <a:xfrm>
            <a:off x="7671861" y="1026589"/>
            <a:ext cx="65393" cy="65393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9"/>
          <p:cNvSpPr/>
          <p:nvPr/>
        </p:nvSpPr>
        <p:spPr>
          <a:xfrm>
            <a:off x="1608498" y="2624152"/>
            <a:ext cx="62621" cy="62621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9"/>
          <p:cNvSpPr/>
          <p:nvPr/>
        </p:nvSpPr>
        <p:spPr>
          <a:xfrm>
            <a:off x="11579504" y="3227148"/>
            <a:ext cx="103565" cy="10356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9"/>
          <p:cNvSpPr/>
          <p:nvPr/>
        </p:nvSpPr>
        <p:spPr>
          <a:xfrm>
            <a:off x="3286427" y="1951493"/>
            <a:ext cx="94422" cy="94422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9"/>
          <p:cNvSpPr/>
          <p:nvPr/>
        </p:nvSpPr>
        <p:spPr>
          <a:xfrm>
            <a:off x="11104385" y="6512548"/>
            <a:ext cx="118806" cy="118806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9"/>
          <p:cNvSpPr/>
          <p:nvPr/>
        </p:nvSpPr>
        <p:spPr>
          <a:xfrm>
            <a:off x="10369272" y="1460222"/>
            <a:ext cx="85110" cy="85110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19"/>
          <p:cNvSpPr/>
          <p:nvPr/>
        </p:nvSpPr>
        <p:spPr>
          <a:xfrm>
            <a:off x="4890935" y="5978247"/>
            <a:ext cx="108305" cy="10830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9"/>
          <p:cNvSpPr/>
          <p:nvPr/>
        </p:nvSpPr>
        <p:spPr>
          <a:xfrm>
            <a:off x="4524987" y="2193594"/>
            <a:ext cx="107071" cy="107071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9"/>
          <p:cNvSpPr/>
          <p:nvPr/>
        </p:nvSpPr>
        <p:spPr>
          <a:xfrm>
            <a:off x="2765313" y="4816161"/>
            <a:ext cx="56107" cy="5610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9"/>
          <p:cNvSpPr/>
          <p:nvPr/>
        </p:nvSpPr>
        <p:spPr>
          <a:xfrm>
            <a:off x="8067939" y="1605063"/>
            <a:ext cx="109118" cy="10911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9"/>
          <p:cNvSpPr/>
          <p:nvPr/>
        </p:nvSpPr>
        <p:spPr>
          <a:xfrm>
            <a:off x="2194397" y="909337"/>
            <a:ext cx="64108" cy="6410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9"/>
          <p:cNvSpPr/>
          <p:nvPr/>
        </p:nvSpPr>
        <p:spPr>
          <a:xfrm>
            <a:off x="5220493" y="1193682"/>
            <a:ext cx="65485" cy="65485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9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18C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🕸️  </a:t>
            </a:r>
            <a:r>
              <a:rPr b="1" i="0" lang="en-US" sz="1300" u="none" cap="none" strike="noStrike">
                <a:solidFill>
                  <a:srgbClr val="818CF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ARCHITECTURE</a:t>
            </a:r>
            <a:endParaRPr/>
          </a:p>
        </p:txBody>
      </p:sp>
      <p:pic>
        <p:nvPicPr>
          <p:cNvPr descr="architecture.png" id="583" name="Google Shape;5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464" y="1013580"/>
            <a:ext cx="10607042" cy="578565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19"/>
          <p:cNvSpPr txBox="1"/>
          <p:nvPr/>
        </p:nvSpPr>
        <p:spPr>
          <a:xfrm>
            <a:off x="0" y="6355080"/>
            <a:ext cx="121916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engines screen every payment in parallel — name/identity + network exposure — and the accumulator escalates to the worst verdict.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3354012" y="2771571"/>
            <a:ext cx="51645" cy="51645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4435849" y="1878281"/>
            <a:ext cx="77272" cy="77272"/>
          </a:xfrm>
          <a:prstGeom prst="ellipse">
            <a:avLst/>
          </a:prstGeom>
          <a:solidFill>
            <a:srgbClr val="F748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0"/>
          <p:cNvSpPr/>
          <p:nvPr/>
        </p:nvSpPr>
        <p:spPr>
          <a:xfrm>
            <a:off x="8012678" y="254138"/>
            <a:ext cx="55941" cy="55941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0"/>
          <p:cNvSpPr/>
          <p:nvPr/>
        </p:nvSpPr>
        <p:spPr>
          <a:xfrm>
            <a:off x="11788978" y="2825048"/>
            <a:ext cx="95644" cy="95644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0"/>
          <p:cNvSpPr/>
          <p:nvPr/>
        </p:nvSpPr>
        <p:spPr>
          <a:xfrm>
            <a:off x="4789447" y="594933"/>
            <a:ext cx="93772" cy="93772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3393179" y="6195262"/>
            <a:ext cx="118454" cy="118454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6849425" y="6207452"/>
            <a:ext cx="128024" cy="128024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6470529" y="4517231"/>
            <a:ext cx="47475" cy="47475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0"/>
          <p:cNvSpPr/>
          <p:nvPr/>
        </p:nvSpPr>
        <p:spPr>
          <a:xfrm>
            <a:off x="876817" y="3189052"/>
            <a:ext cx="50380" cy="50380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266744" y="3579331"/>
            <a:ext cx="103677" cy="103677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0"/>
          <p:cNvSpPr/>
          <p:nvPr/>
        </p:nvSpPr>
        <p:spPr>
          <a:xfrm>
            <a:off x="4828606" y="5332234"/>
            <a:ext cx="101879" cy="101879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11136813" y="3292280"/>
            <a:ext cx="75605" cy="75605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0"/>
          <p:cNvSpPr/>
          <p:nvPr/>
        </p:nvSpPr>
        <p:spPr>
          <a:xfrm>
            <a:off x="248625" y="1123279"/>
            <a:ext cx="98705" cy="98705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9663595" y="2546180"/>
            <a:ext cx="71619" cy="71619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920549" y="4380509"/>
            <a:ext cx="65078" cy="6507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20"/>
          <p:cNvSpPr/>
          <p:nvPr/>
        </p:nvSpPr>
        <p:spPr>
          <a:xfrm>
            <a:off x="8851377" y="1571675"/>
            <a:ext cx="85678" cy="8567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2220375" y="901113"/>
            <a:ext cx="95576" cy="95576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395567" y="2768891"/>
            <a:ext cx="79215" cy="79215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10005563" y="5067938"/>
            <a:ext cx="84325" cy="84325"/>
          </a:xfrm>
          <a:prstGeom prst="ellipse">
            <a:avLst/>
          </a:prstGeom>
          <a:solidFill>
            <a:srgbClr val="28E68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8998259" y="917226"/>
            <a:ext cx="77183" cy="7718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20"/>
          <p:cNvSpPr/>
          <p:nvPr/>
        </p:nvSpPr>
        <p:spPr>
          <a:xfrm>
            <a:off x="6003859" y="5188204"/>
            <a:ext cx="105162" cy="10516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0"/>
          <p:cNvSpPr/>
          <p:nvPr/>
        </p:nvSpPr>
        <p:spPr>
          <a:xfrm>
            <a:off x="8094466" y="6251225"/>
            <a:ext cx="59139" cy="59139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0"/>
          <p:cNvSpPr/>
          <p:nvPr/>
        </p:nvSpPr>
        <p:spPr>
          <a:xfrm>
            <a:off x="6306960" y="292651"/>
            <a:ext cx="94182" cy="94182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2631560" y="4145049"/>
            <a:ext cx="108364" cy="108364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6069166" y="3836603"/>
            <a:ext cx="126757" cy="126757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5262283" y="3197973"/>
            <a:ext cx="82406" cy="8240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7195003" y="3868552"/>
            <a:ext cx="48076" cy="48076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0"/>
          <p:cNvSpPr/>
          <p:nvPr/>
        </p:nvSpPr>
        <p:spPr>
          <a:xfrm>
            <a:off x="5387252" y="3999483"/>
            <a:ext cx="113869" cy="113869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6446596" y="2313946"/>
            <a:ext cx="91283" cy="91283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20"/>
          <p:cNvSpPr/>
          <p:nvPr/>
        </p:nvSpPr>
        <p:spPr>
          <a:xfrm>
            <a:off x="8794006" y="6516428"/>
            <a:ext cx="109177" cy="109177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8983167" y="5931336"/>
            <a:ext cx="85116" cy="85116"/>
          </a:xfrm>
          <a:prstGeom prst="ellipse">
            <a:avLst/>
          </a:prstGeom>
          <a:solidFill>
            <a:srgbClr val="F5C32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0"/>
          <p:cNvSpPr/>
          <p:nvPr/>
        </p:nvSpPr>
        <p:spPr>
          <a:xfrm>
            <a:off x="9881248" y="5297883"/>
            <a:ext cx="118410" cy="118410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2309863" y="471839"/>
            <a:ext cx="83587" cy="83587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5472449" y="3636954"/>
            <a:ext cx="60057" cy="60057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11437569" y="1744486"/>
            <a:ext cx="101346" cy="101346"/>
          </a:xfrm>
          <a:prstGeom prst="ellipse">
            <a:avLst/>
          </a:prstGeom>
          <a:solidFill>
            <a:srgbClr val="5EEA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20"/>
          <p:cNvSpPr/>
          <p:nvPr/>
        </p:nvSpPr>
        <p:spPr>
          <a:xfrm>
            <a:off x="10439506" y="687182"/>
            <a:ext cx="49812" cy="49812"/>
          </a:xfrm>
          <a:prstGeom prst="ellipse">
            <a:avLst/>
          </a:prstGeom>
          <a:solidFill>
            <a:srgbClr val="1640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9499132" y="1193105"/>
            <a:ext cx="53059" cy="53059"/>
          </a:xfrm>
          <a:prstGeom prst="ellipse">
            <a:avLst/>
          </a:prstGeom>
          <a:solidFill>
            <a:srgbClr val="173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11051223" y="6299346"/>
            <a:ext cx="66825" cy="66825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2272183" y="2698391"/>
            <a:ext cx="90858" cy="90858"/>
          </a:xfrm>
          <a:prstGeom prst="ellipse">
            <a:avLst/>
          </a:prstGeom>
          <a:solidFill>
            <a:srgbClr val="1D27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20"/>
          <p:cNvSpPr/>
          <p:nvPr/>
        </p:nvSpPr>
        <p:spPr>
          <a:xfrm>
            <a:off x="981807" y="6506546"/>
            <a:ext cx="91747" cy="91747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6716825" y="6548024"/>
            <a:ext cx="105451" cy="105451"/>
          </a:xfrm>
          <a:prstGeom prst="ellipse">
            <a:avLst/>
          </a:prstGeom>
          <a:solidFill>
            <a:srgbClr val="26224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/>
          <p:nvPr/>
        </p:nvSpPr>
        <p:spPr>
          <a:xfrm>
            <a:off x="10061855" y="6240067"/>
            <a:ext cx="60978" cy="60978"/>
          </a:xfrm>
          <a:prstGeom prst="ellipse">
            <a:avLst/>
          </a:prstGeom>
          <a:solidFill>
            <a:srgbClr val="3E331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2260080" y="1042237"/>
            <a:ext cx="79842" cy="79842"/>
          </a:xfrm>
          <a:prstGeom prst="ellipse">
            <a:avLst/>
          </a:prstGeom>
          <a:solidFill>
            <a:srgbClr val="1530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3406421" y="1871970"/>
            <a:ext cx="91282" cy="91282"/>
          </a:xfrm>
          <a:prstGeom prst="ellipse">
            <a:avLst/>
          </a:prstGeom>
          <a:solidFill>
            <a:srgbClr val="3E1C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0"/>
          <p:cNvSpPr txBox="1"/>
          <p:nvPr/>
        </p:nvSpPr>
        <p:spPr>
          <a:xfrm>
            <a:off x="640080" y="4572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🚀  </a:t>
            </a:r>
            <a:r>
              <a:rPr b="1" i="0" lang="en-US" sz="130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LET’S SCREEN SOME PAYMENTS</a:t>
            </a:r>
            <a:endParaRPr/>
          </a:p>
        </p:txBody>
      </p:sp>
      <p:sp>
        <p:nvSpPr>
          <p:cNvPr id="635" name="Google Shape;635;p20"/>
          <p:cNvSpPr txBox="1"/>
          <p:nvPr/>
        </p:nvSpPr>
        <p:spPr>
          <a:xfrm>
            <a:off x="640080" y="84124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time</a:t>
            </a:r>
            <a:endParaRPr/>
          </a:p>
        </p:txBody>
      </p:sp>
      <p:pic>
        <p:nvPicPr>
          <p:cNvPr descr="front.png" id="636" name="Google Shape;6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4902" y="1441375"/>
            <a:ext cx="9692642" cy="460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20"/>
          <p:cNvSpPr txBox="1"/>
          <p:nvPr/>
        </p:nvSpPr>
        <p:spPr>
          <a:xfrm>
            <a:off x="0" y="612648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8E6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🟢 live feed   </a:t>
            </a:r>
            <a:r>
              <a:rPr b="0" i="0" lang="en-US" sz="1300" u="none" cap="none" strike="noStrike">
                <a:solidFill>
                  <a:srgbClr val="8B95A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· click any dot · analyst review desk · network-exposure drill-down</a:t>
            </a:r>
            <a:endParaRPr/>
          </a:p>
        </p:txBody>
      </p:sp>
      <p:pic>
        <p:nvPicPr>
          <p:cNvPr descr="garaza_logo.png" id="638" name="Google Shape;6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69880" y="6355080"/>
            <a:ext cx="118375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20"/>
          <p:cNvSpPr txBox="1"/>
          <p:nvPr/>
        </p:nvSpPr>
        <p:spPr>
          <a:xfrm>
            <a:off x="640080" y="6364224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8EDF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ScreenSmart</a:t>
            </a:r>
            <a:r>
              <a:rPr b="0" i="0" lang="en-US" sz="1000" u="none" cap="none" strike="noStrike">
                <a:solidFill>
                  <a:srgbClr val="5B647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·  ctrl alt elite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